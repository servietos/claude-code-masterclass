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7"/>
  </p:notesMasterIdLst>
  <p:sldIdLst>
    <p:sldId id="258" r:id="rId2"/>
    <p:sldId id="502" r:id="rId3"/>
    <p:sldId id="503" r:id="rId4"/>
    <p:sldId id="518" r:id="rId5"/>
    <p:sldId id="505" r:id="rId6"/>
  </p:sldIdLst>
  <p:sldSz cx="12192000" cy="6858000"/>
  <p:notesSz cx="6858000" cy="12192000"/>
  <p:embeddedFontLst>
    <p:embeddedFont>
      <p:font typeface="IBM Plex Sans" panose="020B0503050203000203" pitchFamily="34" charset="0"/>
      <p:regular r:id="rId8"/>
      <p:italic r:id="rId9"/>
    </p:embeddedFont>
    <p:embeddedFont>
      <p:font typeface="IBM Plex Sans Light" panose="020B0403050203000203" pitchFamily="34" charset="0"/>
      <p:regular r:id="rId10"/>
      <p:italic r:id="rId11"/>
    </p:embeddedFont>
    <p:embeddedFont>
      <p:font typeface="Montserrat" panose="00000500000000000000" pitchFamily="2" charset="0"/>
      <p:regular r:id="rId12"/>
      <p:bold r:id="rId13"/>
      <p:italic r:id="rId14"/>
      <p:boldItalic r:id="rId15"/>
    </p:embeddedFont>
    <p:embeddedFont>
      <p:font typeface="Poppins" panose="00000500000000000000" pitchFamily="2" charset="0"/>
      <p:regular r:id="rId16"/>
      <p:boldItalic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font" Target="fonts/font1.fntdata"/><Relationship Id="rId9" Type="http://schemas.openxmlformats.org/officeDocument/2006/relationships/font" Target="fonts/font2.fntdata"/><Relationship Id="rId10" Type="http://schemas.openxmlformats.org/officeDocument/2006/relationships/font" Target="fonts/font3.fntdata"/><Relationship Id="rId11" Type="http://schemas.openxmlformats.org/officeDocument/2006/relationships/font" Target="fonts/font4.fntdata"/><Relationship Id="rId12" Type="http://schemas.openxmlformats.org/officeDocument/2006/relationships/font" Target="fonts/font5.fntdata"/><Relationship Id="rId13" Type="http://schemas.openxmlformats.org/officeDocument/2006/relationships/font" Target="fonts/font6.fntdata"/><Relationship Id="rId14" Type="http://schemas.openxmlformats.org/officeDocument/2006/relationships/font" Target="fonts/font7.fntdata"/><Relationship Id="rId15" Type="http://schemas.openxmlformats.org/officeDocument/2006/relationships/font" Target="fonts/font8.fntdata"/><Relationship Id="rId16" Type="http://schemas.openxmlformats.org/officeDocument/2006/relationships/font" Target="fonts/font9.fntdata"/><Relationship Id="rId17" Type="http://schemas.openxmlformats.org/officeDocument/2006/relationships/font" Target="fonts/font10.fnt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06443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461A2-C3FB-8FF7-A183-A6C9154D3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E791D27-971C-48FE-7C44-479BE7AE81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017CC76-223D-4E1C-7685-BA68E3EA47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b="1"/>
              <a:t>Die Fast Lane Gruppe. </a:t>
            </a: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/>
          </a:p>
          <a:p>
            <a:pPr marL="171450" marR="0" lvl="0" indent="-17145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de-DE"/>
              <a:t>Fast Lane … Dienstleister u. Spezialist für High-End Technologie und Business Trainings</a:t>
            </a: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/>
              <a:t>	IT Trainings zu den  unterschiedlichsten Herstellern wie Microsoft, Google, Cisco oder AWS. Und vielen weiteren wichtigen IT Herstellern. </a:t>
            </a: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/>
              <a:t>	Sei es Cloud, Security, Netzwerk oder allgemein digitale Transformationsprojekte	</a:t>
            </a: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/>
              <a:t>	Und das seit 2003.</a:t>
            </a: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de-DE"/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/>
              <a:t>Das spannende ist, dass die Fast Lane Gruppe bereits seit 2009 durchgängig zu den </a:t>
            </a:r>
            <a:r>
              <a:rPr lang="de-DE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Top 20 Unternehmen in der IT Trainingsbranche </a:t>
            </a:r>
            <a:r>
              <a:rPr lang="de-DE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weltweit zählt.</a:t>
            </a:r>
            <a:endParaRPr lang="de-DE"/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de-DE"/>
          </a:p>
          <a:p>
            <a:pPr marL="171450" marR="0" lvl="0" indent="-17145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de-DE"/>
              <a:t>Aber auch Footprint ebenso im klassischen Professional Services Bereich für unsere wichtigsten Hersteller</a:t>
            </a: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de-DE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PreSales</a:t>
            </a:r>
            <a:r>
              <a:rPr lang="de-DE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Support, </a:t>
            </a:r>
            <a:r>
              <a:rPr lang="de-DE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Deployment</a:t>
            </a:r>
            <a:r>
              <a:rPr lang="de-DE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Services und Adoption Trainings</a:t>
            </a: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Additional Information:</a:t>
            </a:r>
            <a:br>
              <a:rPr lang="de-DE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de-DE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 Jahr 2021 sind wir zur „</a:t>
            </a:r>
            <a:r>
              <a:rPr lang="de-DE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most</a:t>
            </a:r>
            <a:r>
              <a:rPr lang="de-DE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strategic</a:t>
            </a:r>
            <a:r>
              <a:rPr lang="de-DE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IT Education </a:t>
            </a:r>
            <a:r>
              <a:rPr lang="de-DE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company</a:t>
            </a:r>
            <a:r>
              <a:rPr lang="de-DE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worldwide</a:t>
            </a:r>
            <a:r>
              <a:rPr lang="de-DE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 von der IDC im „</a:t>
            </a:r>
            <a:r>
              <a:rPr lang="de-DE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magic</a:t>
            </a:r>
            <a:r>
              <a:rPr lang="de-DE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quadrant</a:t>
            </a:r>
            <a:r>
              <a:rPr lang="de-DE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 aufgeführt worden !</a:t>
            </a:r>
          </a:p>
          <a:p>
            <a:endParaRPr lang="de-DE"/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de-DE"/>
              <a:t>1 </a:t>
            </a:r>
            <a:r>
              <a:rPr lang="de-DE" err="1"/>
              <a:t>mio</a:t>
            </a:r>
            <a:r>
              <a:rPr lang="de-DE"/>
              <a:t> Teilnehmer insgesamt seit bestehen, 50.000+ </a:t>
            </a:r>
            <a:r>
              <a:rPr lang="de-DE" err="1"/>
              <a:t>Students</a:t>
            </a:r>
            <a:r>
              <a:rPr lang="de-DE"/>
              <a:t> </a:t>
            </a:r>
            <a:r>
              <a:rPr lang="de-DE" err="1"/>
              <a:t>ww</a:t>
            </a:r>
            <a:r>
              <a:rPr lang="de-DE"/>
              <a:t> </a:t>
            </a:r>
            <a:r>
              <a:rPr lang="de-DE" err="1"/>
              <a:t>p.A</a:t>
            </a:r>
            <a:r>
              <a:rPr lang="de-DE"/>
              <a:t>, 20.000 in DE pro Jahr</a:t>
            </a:r>
          </a:p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147C99C-1C3E-1038-E7AD-EE3A64ED03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B0D7EAB-36F5-E04E-BA34-9D312A17DA3C}" type="slidenum">
              <a:rPr kumimoji="0" lang="en-HR" sz="7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l" defTabSz="3429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HR" sz="7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20221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Intro: Alexander Kastil, integrations.at. Four practice areas from AI at Work to team enablement. Certifications: Agentic AI Business Solutions Architect, Azure AI App and Agent Developer Associate, DevOps Engineer Expert.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37575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16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FF5F0EB-5CD2-194F-BB8C-91CBF8948E3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HR"/>
              <a:t>Click or drag to add picture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128D6CBD-EAC7-0540-9B7E-CC16CC95FE7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4965" y="390742"/>
            <a:ext cx="5856831" cy="6924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b="1">
                <a:solidFill>
                  <a:schemeClr val="bg1"/>
                </a:solidFill>
                <a:latin typeface="IBM Plex Sans" panose="020B0503050203000203" pitchFamily="34" charset="0"/>
              </a:defRPr>
            </a:lvl1pPr>
          </a:lstStyle>
          <a:p>
            <a:pPr lvl="0"/>
            <a:endParaRPr lang="en-HR"/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192EB840-6AE9-194D-B55E-C0698CCD47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4965" y="1122467"/>
            <a:ext cx="5856831" cy="35934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b="0">
                <a:solidFill>
                  <a:srgbClr val="09A9AB"/>
                </a:solidFill>
                <a:latin typeface="IBM Plex Sans" panose="020B0503050203000203" pitchFamily="34" charset="0"/>
              </a:defRPr>
            </a:lvl1pPr>
          </a:lstStyle>
          <a:p>
            <a:pPr lvl="0"/>
            <a:endParaRPr lang="en-HR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54B9BAF-8941-AB4D-89A7-466A5BA376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5" y="5989388"/>
            <a:ext cx="5856831" cy="2546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bg1"/>
                </a:solidFill>
                <a:latin typeface="IBM Plex Sans" panose="020B0503050203000203" pitchFamily="34" charset="0"/>
              </a:defRPr>
            </a:lvl1pPr>
            <a:lvl2pPr>
              <a:defRPr sz="1400">
                <a:latin typeface="IBM Plex Sans" panose="020B0503050203000203" pitchFamily="34" charset="0"/>
              </a:defRPr>
            </a:lvl2pPr>
            <a:lvl3pPr>
              <a:defRPr sz="1400">
                <a:latin typeface="IBM Plex Sans" panose="020B0503050203000203" pitchFamily="34" charset="0"/>
              </a:defRPr>
            </a:lvl3pPr>
            <a:lvl4pPr>
              <a:defRPr sz="1400">
                <a:latin typeface="IBM Plex Sans" panose="020B0503050203000203" pitchFamily="34" charset="0"/>
              </a:defRPr>
            </a:lvl4pPr>
            <a:lvl5pPr>
              <a:defRPr sz="1400"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HR"/>
              <a:t>Name Surname</a:t>
            </a:r>
          </a:p>
        </p:txBody>
      </p: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FBA33DA8-0E61-0B43-9081-719F5B2D9FA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5" y="6283301"/>
            <a:ext cx="5856831" cy="254659"/>
          </a:xfrm>
          <a:prstGeom prst="rect">
            <a:avLst/>
          </a:prstGeom>
        </p:spPr>
        <p:txBody>
          <a:bodyPr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>
                <a:solidFill>
                  <a:schemeClr val="bg1"/>
                </a:solidFill>
                <a:latin typeface="IBM Plex Sans" panose="020B0503050203000203" pitchFamily="34" charset="0"/>
              </a:defRPr>
            </a:lvl1pPr>
            <a:lvl2pPr>
              <a:defRPr sz="1400">
                <a:latin typeface="IBM Plex Sans" panose="020B0503050203000203" pitchFamily="34" charset="0"/>
              </a:defRPr>
            </a:lvl2pPr>
            <a:lvl3pPr>
              <a:defRPr sz="1400">
                <a:latin typeface="IBM Plex Sans" panose="020B0503050203000203" pitchFamily="34" charset="0"/>
              </a:defRPr>
            </a:lvl3pPr>
            <a:lvl4pPr>
              <a:defRPr sz="1400">
                <a:latin typeface="IBM Plex Sans" panose="020B0503050203000203" pitchFamily="34" charset="0"/>
              </a:defRPr>
            </a:lvl4pPr>
            <a:lvl5pPr>
              <a:defRPr sz="1400">
                <a:latin typeface="IBM Plex Sans" panose="020B0503050203000203" pitchFamily="34" charset="0"/>
              </a:defRPr>
            </a:lvl5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400">
                <a:solidFill>
                  <a:srgbClr val="FFFFFF"/>
                </a:solidFill>
                <a:latin typeface="IBM Plex Sans Light" panose="020B0403050203000203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Global Director Digital Strategy</a:t>
            </a:r>
          </a:p>
          <a:p>
            <a:pPr lvl="0"/>
            <a:endParaRPr lang="en-HR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7804F17-E6E2-C546-9FB7-F619A6FF900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40867" y="6155029"/>
            <a:ext cx="1716171" cy="2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21460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2.emf"/><Relationship Id="rId6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127999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class-slide-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6088" y="0"/>
            <a:ext cx="4025912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127999" y="0"/>
            <a:ext cx="38089" cy="6858000"/>
          </a:xfrm>
          <a:prstGeom prst="rect">
            <a:avLst/>
          </a:prstGeom>
          <a:solidFill>
            <a:srgbClr val="D4B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12767" y="1740392"/>
            <a:ext cx="254000" cy="19017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50000" y="1580000"/>
            <a:ext cx="67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5000"/>
              </a:lnSpc>
            </a:pPr>
            <a:r>
              <a:rPr sz="1700" b="1">
                <a:solidFill>
                  <a:srgbClr val="2D3436"/>
                </a:solidFill>
                <a:latin typeface="Montserrat"/>
              </a:rPr>
              <a:t>MASTER 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0000" y="2150000"/>
            <a:ext cx="71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5000"/>
              </a:lnSpc>
            </a:pPr>
            <a:r>
              <a:rPr sz="5000" b="1">
                <a:solidFill>
                  <a:srgbClr val="2D3436"/>
                </a:solidFill>
                <a:latin typeface="Montserrat"/>
              </a:rPr>
              <a:t>Agentic Software Engineering using GitHub Copilot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767" y="4500000"/>
            <a:ext cx="7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5000"/>
              </a:lnSpc>
            </a:pPr>
            <a:r>
              <a:rPr sz="2000" b="0">
                <a:solidFill>
                  <a:srgbClr val="595F67"/>
                </a:solidFill>
                <a:latin typeface="Poppins"/>
              </a:rPr>
              <a:t>4 Days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67" y="5500000"/>
            <a:ext cx="6900000" cy="12700"/>
          </a:xfrm>
          <a:prstGeom prst="rect">
            <a:avLst/>
          </a:prstGeom>
          <a:solidFill>
            <a:srgbClr val="E3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2767" y="5620000"/>
            <a:ext cx="7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5000"/>
              </a:lnSpc>
            </a:pPr>
            <a:r>
              <a:rPr sz="1200" b="0">
                <a:solidFill>
                  <a:srgbClr val="595F67"/>
                </a:solidFill>
                <a:latin typeface="Poppins"/>
              </a:rPr>
              <a:t>Agentic Software Engineering using GitHub Copilot</a:t>
            </a:r>
          </a:p>
        </p:txBody>
      </p:sp>
    </p:spTree>
    <p:extLst>
      <p:ext uri="{BB962C8B-B14F-4D97-AF65-F5344CB8AC3E}">
        <p14:creationId xmlns:p14="http://schemas.microsoft.com/office/powerpoint/2010/main" val="1653244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B642C-D847-89BF-1014-698D4947D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15" descr="Woman walking in office">
            <a:extLst>
              <a:ext uri="{FF2B5EF4-FFF2-40B4-BE49-F238E27FC236}">
                <a16:creationId xmlns:a16="http://schemas.microsoft.com/office/drawing/2014/main" id="{92CB83EA-0659-E370-8CB8-52A704AFB40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756109" y="1"/>
            <a:ext cx="6435892" cy="6858000"/>
          </a:xfrm>
          <a:ln>
            <a:noFill/>
          </a:ln>
        </p:spPr>
      </p:pic>
      <p:pic>
        <p:nvPicPr>
          <p:cNvPr id="9" name="Picture 8" descr="Background pattern&#10;&#10;Description automatically generated">
            <a:extLst>
              <a:ext uri="{FF2B5EF4-FFF2-40B4-BE49-F238E27FC236}">
                <a16:creationId xmlns:a16="http://schemas.microsoft.com/office/drawing/2014/main" id="{CAAB5C21-DEC6-1D47-0353-AD276084FCB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2073020" y="1"/>
            <a:ext cx="118981" cy="6858000"/>
          </a:xfrm>
          <a:prstGeom prst="rect">
            <a:avLst/>
          </a:prstGeom>
          <a:effectLst/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8D64F3-EA49-4D44-720E-6DEF74D4F3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4965" y="1143000"/>
            <a:ext cx="5856831" cy="692471"/>
          </a:xfrm>
        </p:spPr>
        <p:txBody>
          <a:bodyPr/>
          <a:lstStyle/>
          <a:p>
            <a:r>
              <a:rPr lang="en-GB">
                <a:solidFill>
                  <a:srgbClr val="09A9AB"/>
                </a:solidFill>
              </a:rPr>
              <a:t>Fast Lane Group</a:t>
            </a:r>
          </a:p>
          <a:p>
            <a:endParaRPr lang="en-HR">
              <a:solidFill>
                <a:srgbClr val="09A9AB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056563-3889-E68E-51A3-F6FD61A4B2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4964" y="1908623"/>
            <a:ext cx="5108907" cy="1188720"/>
          </a:xfrm>
        </p:spPr>
        <p:txBody>
          <a:bodyPr/>
          <a:lstStyle/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GB" sz="3200">
                <a:solidFill>
                  <a:srgbClr val="04282E"/>
                </a:solidFill>
              </a:rPr>
              <a:t>Worldwide Education &amp;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GB" sz="3200">
                <a:solidFill>
                  <a:srgbClr val="04282E"/>
                </a:solidFill>
              </a:rPr>
              <a:t>Professional Services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endParaRPr lang="en-HR">
              <a:solidFill>
                <a:srgbClr val="04282E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73A0D74-6908-2F97-B10F-2125282EE6CB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40867" y="6155029"/>
            <a:ext cx="1716171" cy="255600"/>
          </a:xfrm>
          <a:prstGeom prst="rect">
            <a:avLst/>
          </a:prstGeom>
        </p:spPr>
      </p:pic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F9F0E5C2-05DA-E683-5802-C835061B32C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4965" y="6283301"/>
            <a:ext cx="5856831" cy="254659"/>
          </a:xfrm>
        </p:spPr>
        <p:txBody>
          <a:bodyPr lIns="91440" tIns="45720" rIns="91440" bIns="45720" anchor="t"/>
          <a:lstStyle/>
          <a:p>
            <a:r>
              <a:rPr lang="en-GB" b="0" sz="1050">
                <a:solidFill>
                  <a:schemeClr val="tx1"/>
                </a:solidFill>
                <a:latin typeface="IBM Plex Sans"/>
              </a:rPr>
              <a:t>www.flane.de</a:t>
            </a:r>
            <a:r>
              <a:rPr lang="en-GB" b="0" sz="1050">
                <a:solidFill>
                  <a:schemeClr val="tx1"/>
                </a:solidFill>
                <a:latin typeface="IBM Plex Sans"/>
              </a:rPr>
              <a:t> | </a:t>
            </a:r>
            <a:r>
              <a:rPr lang="en-GB" b="0" sz="1050">
                <a:solidFill>
                  <a:schemeClr val="tx1"/>
                </a:solidFill>
                <a:latin typeface="IBM Plex Sans"/>
              </a:rPr>
              <a:t>© 2026 Fast Lane Institute for Knowledge Transfer GmbH</a:t>
            </a:r>
            <a:endParaRPr lang="en-GB" b="0" sz="1050">
              <a:solidFill>
                <a:schemeClr val="tx1"/>
              </a:solidFill>
            </a:endParaRPr>
          </a:p>
          <a:p>
            <a:endParaRPr lang="en-HR" sz="1050" b="0">
              <a:solidFill>
                <a:schemeClr val="tx1"/>
              </a:solidFill>
            </a:endParaRPr>
          </a:p>
        </p:txBody>
      </p:sp>
      <p:pic>
        <p:nvPicPr>
          <p:cNvPr id="2" name="Grafik 1" descr="Ein Bild, das Text, Screenshot, Schrift, Logo enthält.&#10;&#10;KI-generierte Inhalte können fehlerhaft sein.">
            <a:extLst>
              <a:ext uri="{FF2B5EF4-FFF2-40B4-BE49-F238E27FC236}">
                <a16:creationId xmlns:a16="http://schemas.microsoft.com/office/drawing/2014/main" id="{44898A48-153F-AE4B-CCD7-54A6700C10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687" y="3814083"/>
            <a:ext cx="2718708" cy="2013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540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7999" y="0"/>
            <a:ext cx="4064000" cy="6857999"/>
          </a:xfrm>
          <a:prstGeom prst="rect">
            <a:avLst/>
          </a:prstGeom>
          <a:gradFill rotWithShape="1">
            <a:gsLst>
              <a:gs pos="0">
                <a:srgbClr val="353D40"/>
              </a:gs>
              <a:gs pos="55000">
                <a:srgbClr val="2D3436"/>
              </a:gs>
              <a:gs pos="100000">
                <a:srgbClr val="262C2E"/>
              </a:gs>
            </a:gsLst>
            <a:lin ang="4200000" scaled="0"/>
          </a:gradFill>
          <a:ln/>
        </p:spPr>
        <p:txBody>
          <a:bodyPr/>
          <a:lstStyle/>
          <a:p>
            <a:endParaRPr lang="en-AT"/>
          </a:p>
        </p:txBody>
      </p:sp>
      <p:sp>
        <p:nvSpPr>
          <p:cNvPr id="3" name="Shape 1"/>
          <p:cNvSpPr/>
          <p:nvPr/>
        </p:nvSpPr>
        <p:spPr>
          <a:xfrm>
            <a:off x="8127999" y="0"/>
            <a:ext cx="38089" cy="6857999"/>
          </a:xfrm>
          <a:prstGeom prst="rect">
            <a:avLst/>
          </a:prstGeom>
          <a:solidFill>
            <a:srgbClr val="D4B483"/>
          </a:solidFill>
          <a:ln/>
        </p:spPr>
        <p:txBody>
          <a:bodyPr/>
          <a:lstStyle/>
          <a:p>
            <a:endParaRPr lang="en-AT"/>
          </a:p>
        </p:txBody>
      </p:sp>
      <p:pic>
        <p:nvPicPr>
          <p:cNvPr id="4" name="Image 0" descr="integrations logo"/>
          <p:cNvPicPr>
            <a:picLocks noChangeAspect="1"/>
          </p:cNvPicPr>
          <p:nvPr/>
        </p:nvPicPr>
        <p:blipFill>
          <a:blip r:embed="rId3"/>
          <a:srcRect l="-23" r="-23"/>
          <a:stretch/>
        </p:blipFill>
        <p:spPr>
          <a:xfrm>
            <a:off x="8889999" y="457178"/>
            <a:ext cx="2540000" cy="52701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0279" y="1079500"/>
            <a:ext cx="3139440" cy="3911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1200" kern="0" spc="200" dirty="0">
                <a:solidFill>
                  <a:srgbClr val="C9CFD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AGENTIC AI CONSULTING · VIENNA</a:t>
            </a:r>
            <a:endParaRPr lang="en-US" sz="1200" dirty="0"/>
          </a:p>
        </p:txBody>
      </p:sp>
      <p:pic>
        <p:nvPicPr>
          <p:cNvPr id="6" name="Image 1" descr="Portrait of Alexander Kastil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953499" y="1549356"/>
            <a:ext cx="2413000" cy="2413000"/>
          </a:xfrm>
          <a:prstGeom prst="ellipse">
            <a:avLst/>
          </a:prstGeom>
        </p:spPr>
      </p:pic>
      <p:pic>
        <p:nvPicPr>
          <p:cNvPr id="7" name="Image 2" descr="Microsoft Certified: Agentic AI Business Solutions Architect"/>
          <p:cNvPicPr>
            <a:picLocks noChangeAspect="1"/>
          </p:cNvPicPr>
          <p:nvPr/>
        </p:nvPicPr>
        <p:blipFill>
          <a:blip r:embed="rId5"/>
          <a:srcRect l="-86" r="-86"/>
          <a:stretch/>
        </p:blipFill>
        <p:spPr>
          <a:xfrm>
            <a:off x="8718517" y="4267178"/>
            <a:ext cx="762000" cy="812767"/>
          </a:xfrm>
          <a:prstGeom prst="rect">
            <a:avLst/>
          </a:prstGeom>
        </p:spPr>
      </p:pic>
      <p:pic>
        <p:nvPicPr>
          <p:cNvPr id="8" name="Image 3" descr="Microsoft Certified: Azure AI App and Agent Developer Associate"/>
          <p:cNvPicPr>
            <a:picLocks noChangeAspect="1"/>
          </p:cNvPicPr>
          <p:nvPr/>
        </p:nvPicPr>
        <p:blipFill>
          <a:blip r:embed="rId6"/>
          <a:srcRect t="-25" b="-25"/>
          <a:stretch/>
        </p:blipFill>
        <p:spPr>
          <a:xfrm>
            <a:off x="9734517" y="4267178"/>
            <a:ext cx="806428" cy="812767"/>
          </a:xfrm>
          <a:prstGeom prst="rect">
            <a:avLst/>
          </a:prstGeom>
        </p:spPr>
      </p:pic>
      <p:pic>
        <p:nvPicPr>
          <p:cNvPr id="9" name="Image 4" descr="Microsoft Certified: DevOps Engineer Expert"/>
          <p:cNvPicPr>
            <a:picLocks noChangeAspect="1"/>
          </p:cNvPicPr>
          <p:nvPr/>
        </p:nvPicPr>
        <p:blipFill>
          <a:blip r:embed="rId7"/>
          <a:srcRect t="-5" b="-5"/>
          <a:stretch/>
        </p:blipFill>
        <p:spPr>
          <a:xfrm>
            <a:off x="10794999" y="4267178"/>
            <a:ext cx="806428" cy="812767"/>
          </a:xfrm>
          <a:prstGeom prst="rect">
            <a:avLst/>
          </a:prstGeom>
        </p:spPr>
      </p:pic>
      <p:pic>
        <p:nvPicPr>
          <p:cNvPr id="10" name="Image 5" descr="line"/>
          <p:cNvPicPr>
            <a:picLocks noChangeAspect="1"/>
          </p:cNvPicPr>
          <p:nvPr/>
        </p:nvPicPr>
        <p:blipFill>
          <a:blip r:embed="rId8"/>
          <a:srcRect t="-5559" b="-5559"/>
          <a:stretch/>
        </p:blipFill>
        <p:spPr>
          <a:xfrm>
            <a:off x="8889999" y="5334000"/>
            <a:ext cx="2540000" cy="7056"/>
          </a:xfrm>
          <a:prstGeom prst="rect">
            <a:avLst/>
          </a:prstGeom>
        </p:spPr>
      </p:pic>
      <p:sp>
        <p:nvSpPr>
          <p:cNvPr id="11" name="Shape 3"/>
          <p:cNvSpPr/>
          <p:nvPr/>
        </p:nvSpPr>
        <p:spPr>
          <a:xfrm>
            <a:off x="8978855" y="5638767"/>
            <a:ext cx="635000" cy="635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AT"/>
          </a:p>
        </p:txBody>
      </p:sp>
      <p:pic>
        <p:nvPicPr>
          <p:cNvPr id="12" name="Image 6" descr="QR code"/>
          <p:cNvPicPr>
            <a:picLocks noChangeAspect="1"/>
          </p:cNvPicPr>
          <p:nvPr/>
        </p:nvPicPr>
        <p:blipFill>
          <a:blip r:embed="rId9"/>
          <a:srcRect t="-338" b="-338"/>
          <a:stretch/>
        </p:blipFill>
        <p:spPr>
          <a:xfrm>
            <a:off x="9029622" y="5689533"/>
            <a:ext cx="533356" cy="533356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9766267" y="5715000"/>
            <a:ext cx="1701800" cy="2082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1200" kern="0" spc="100" dirty="0">
                <a:solidFill>
                  <a:srgbClr val="D4B4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SCAN TO CONNECT</a:t>
            </a:r>
            <a:endParaRPr lang="en-US" sz="1200" dirty="0"/>
          </a:p>
        </p:txBody>
      </p:sp>
      <p:sp>
        <p:nvSpPr>
          <p:cNvPr id="14" name="Text 5"/>
          <p:cNvSpPr/>
          <p:nvPr/>
        </p:nvSpPr>
        <p:spPr>
          <a:xfrm>
            <a:off x="9766267" y="5930855"/>
            <a:ext cx="1701800" cy="2692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kern="0" spc="-15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integrations.at</a:t>
            </a:r>
            <a:endParaRPr lang="en-US" sz="1600" dirty="0"/>
          </a:p>
        </p:txBody>
      </p:sp>
      <p:sp>
        <p:nvSpPr>
          <p:cNvPr id="15" name="Shape 6"/>
          <p:cNvSpPr/>
          <p:nvPr/>
        </p:nvSpPr>
        <p:spPr>
          <a:xfrm>
            <a:off x="812767" y="740392"/>
            <a:ext cx="254000" cy="19017"/>
          </a:xfrm>
          <a:prstGeom prst="rect">
            <a:avLst/>
          </a:prstGeom>
          <a:solidFill>
            <a:srgbClr val="4A9EFF"/>
          </a:solidFill>
          <a:ln/>
        </p:spPr>
        <p:txBody>
          <a:bodyPr/>
          <a:lstStyle/>
          <a:p>
            <a:endParaRPr lang="en-AT"/>
          </a:p>
        </p:txBody>
      </p:sp>
      <p:sp>
        <p:nvSpPr>
          <p:cNvPr id="16" name="Text 7"/>
          <p:cNvSpPr/>
          <p:nvPr/>
        </p:nvSpPr>
        <p:spPr>
          <a:xfrm>
            <a:off x="1193767" y="609589"/>
            <a:ext cx="5743944" cy="3060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10"/>
              </a:lnSpc>
              <a:buNone/>
            </a:pPr>
            <a:r>
              <a:rPr lang="en-US" sz="1700" b="1" kern="0" spc="35" dirty="0">
                <a:solidFill>
                  <a:srgbClr val="2D343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AGENTIC AI: FROM STRATEGY TO </a:t>
            </a:r>
            <a:r>
              <a:rPr lang="en-US" sz="1700" b="1" kern="0" spc="35" dirty="0">
                <a:solidFill>
                  <a:srgbClr val="1462C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PRODUCTION.</a:t>
            </a:r>
            <a:endParaRPr lang="en-US" sz="1700" dirty="0"/>
          </a:p>
        </p:txBody>
      </p:sp>
      <p:sp>
        <p:nvSpPr>
          <p:cNvPr id="17" name="Text 8"/>
          <p:cNvSpPr/>
          <p:nvPr/>
        </p:nvSpPr>
        <p:spPr>
          <a:xfrm>
            <a:off x="812767" y="1017268"/>
            <a:ext cx="6906756" cy="14761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712"/>
              </a:lnSpc>
              <a:buNone/>
            </a:pPr>
            <a:r>
              <a:rPr lang="en-US" sz="5600" b="1" kern="0" spc="-125" dirty="0">
                <a:solidFill>
                  <a:srgbClr val="2D343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Alexander</a:t>
            </a:r>
            <a:endParaRPr lang="en-US" sz="5600" dirty="0"/>
          </a:p>
          <a:p>
            <a:pPr marL="0" indent="0" algn="l">
              <a:lnSpc>
                <a:spcPts val="5712"/>
              </a:lnSpc>
              <a:buNone/>
            </a:pPr>
            <a:r>
              <a:rPr lang="en-US" sz="5600" b="1" kern="0" spc="-125" dirty="0">
                <a:solidFill>
                  <a:srgbClr val="2D343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Kastil</a:t>
            </a:r>
            <a:endParaRPr lang="en-US" sz="5600" dirty="0"/>
          </a:p>
        </p:txBody>
      </p:sp>
      <p:sp>
        <p:nvSpPr>
          <p:cNvPr id="18" name="Text 9"/>
          <p:cNvSpPr/>
          <p:nvPr/>
        </p:nvSpPr>
        <p:spPr>
          <a:xfrm>
            <a:off x="812767" y="2620466"/>
            <a:ext cx="6906756" cy="2742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95F6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stack, from enterprise software to agentic AI. Since 1996</a:t>
            </a:r>
            <a:endParaRPr lang="en-US" sz="1400" dirty="0"/>
          </a:p>
        </p:txBody>
      </p:sp>
      <p:sp>
        <p:nvSpPr>
          <p:cNvPr id="19" name="Shape 10"/>
          <p:cNvSpPr/>
          <p:nvPr/>
        </p:nvSpPr>
        <p:spPr>
          <a:xfrm>
            <a:off x="822292" y="3322781"/>
            <a:ext cx="0" cy="704784"/>
          </a:xfrm>
          <a:prstGeom prst="line">
            <a:avLst/>
          </a:prstGeom>
          <a:noFill/>
          <a:ln w="19050">
            <a:solidFill>
              <a:srgbClr val="D4B483"/>
            </a:solidFill>
            <a:prstDash val="solid"/>
          </a:ln>
        </p:spPr>
        <p:txBody>
          <a:bodyPr/>
          <a:lstStyle/>
          <a:p>
            <a:endParaRPr lang="en-AT"/>
          </a:p>
        </p:txBody>
      </p:sp>
      <p:sp>
        <p:nvSpPr>
          <p:cNvPr id="20" name="Text 11"/>
          <p:cNvSpPr/>
          <p:nvPr/>
        </p:nvSpPr>
        <p:spPr>
          <a:xfrm>
            <a:off x="982762" y="3335458"/>
            <a:ext cx="3068982" cy="239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</a:pPr>
            <a:r>
              <a:rPr lang="en-US" sz="1300" b="1" kern="0" spc="-15" dirty="0">
                <a:solidFill>
                  <a:srgbClr val="2D343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at Work</a:t>
            </a:r>
            <a:endParaRPr lang="en-US" sz="1300" dirty="0"/>
          </a:p>
        </p:txBody>
      </p:sp>
      <p:sp>
        <p:nvSpPr>
          <p:cNvPr id="21" name="Text 12"/>
          <p:cNvSpPr/>
          <p:nvPr/>
        </p:nvSpPr>
        <p:spPr>
          <a:xfrm>
            <a:off x="982762" y="3588136"/>
            <a:ext cx="3068982" cy="4521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95F6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Value discovery, KPI mapping and roadmap</a:t>
            </a:r>
            <a:endParaRPr lang="en-US" sz="1200" dirty="0"/>
          </a:p>
        </p:txBody>
      </p:sp>
      <p:sp>
        <p:nvSpPr>
          <p:cNvPr id="22" name="Shape 13"/>
          <p:cNvSpPr/>
          <p:nvPr/>
        </p:nvSpPr>
        <p:spPr>
          <a:xfrm>
            <a:off x="4378237" y="3322781"/>
            <a:ext cx="0" cy="704784"/>
          </a:xfrm>
          <a:prstGeom prst="line">
            <a:avLst/>
          </a:prstGeom>
          <a:noFill/>
          <a:ln w="19050">
            <a:solidFill>
              <a:srgbClr val="D4B483"/>
            </a:solidFill>
            <a:prstDash val="solid"/>
          </a:ln>
        </p:spPr>
        <p:txBody>
          <a:bodyPr/>
          <a:lstStyle/>
          <a:p>
            <a:endParaRPr lang="en-AT"/>
          </a:p>
        </p:txBody>
      </p:sp>
      <p:sp>
        <p:nvSpPr>
          <p:cNvPr id="23" name="Text 14"/>
          <p:cNvSpPr/>
          <p:nvPr/>
        </p:nvSpPr>
        <p:spPr>
          <a:xfrm>
            <a:off x="4538706" y="3335458"/>
            <a:ext cx="3069039" cy="239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</a:pPr>
            <a:r>
              <a:rPr lang="en-US" sz="1300" b="1" kern="0" spc="-15" dirty="0">
                <a:solidFill>
                  <a:srgbClr val="2D343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Enterprise AI</a:t>
            </a:r>
            <a:endParaRPr lang="en-US" sz="1300" dirty="0"/>
          </a:p>
        </p:txBody>
      </p:sp>
      <p:sp>
        <p:nvSpPr>
          <p:cNvPr id="24" name="Text 15"/>
          <p:cNvSpPr/>
          <p:nvPr/>
        </p:nvSpPr>
        <p:spPr>
          <a:xfrm>
            <a:off x="4538706" y="3588136"/>
            <a:ext cx="3069039" cy="4521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95F6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Governed multi-agent systems on Microsoft Copilot and Foundry</a:t>
            </a:r>
            <a:endParaRPr lang="en-US" sz="1200" dirty="0"/>
          </a:p>
        </p:txBody>
      </p:sp>
      <p:sp>
        <p:nvSpPr>
          <p:cNvPr id="25" name="Shape 16"/>
          <p:cNvSpPr/>
          <p:nvPr/>
        </p:nvSpPr>
        <p:spPr>
          <a:xfrm>
            <a:off x="822292" y="4332331"/>
            <a:ext cx="0" cy="704784"/>
          </a:xfrm>
          <a:prstGeom prst="line">
            <a:avLst/>
          </a:prstGeom>
          <a:noFill/>
          <a:ln w="19050">
            <a:solidFill>
              <a:srgbClr val="D4B483"/>
            </a:solidFill>
            <a:prstDash val="solid"/>
          </a:ln>
        </p:spPr>
        <p:txBody>
          <a:bodyPr/>
          <a:lstStyle/>
          <a:p>
            <a:endParaRPr lang="en-AT"/>
          </a:p>
        </p:txBody>
      </p:sp>
      <p:sp>
        <p:nvSpPr>
          <p:cNvPr id="26" name="Text 17"/>
          <p:cNvSpPr/>
          <p:nvPr/>
        </p:nvSpPr>
        <p:spPr>
          <a:xfrm>
            <a:off x="982762" y="4345009"/>
            <a:ext cx="3068982" cy="239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</a:pPr>
            <a:r>
              <a:rPr lang="en-US" sz="1300" b="1" kern="0" spc="-15" dirty="0">
                <a:solidFill>
                  <a:srgbClr val="2D343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Agentic Software Engineering</a:t>
            </a:r>
            <a:endParaRPr lang="en-US" sz="1300" dirty="0"/>
          </a:p>
        </p:txBody>
      </p:sp>
      <p:sp>
        <p:nvSpPr>
          <p:cNvPr id="27" name="Text 18"/>
          <p:cNvSpPr/>
          <p:nvPr/>
        </p:nvSpPr>
        <p:spPr>
          <a:xfrm>
            <a:off x="982762" y="4597686"/>
            <a:ext cx="3068982" cy="4521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95F6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Harness architecture for Claude Code and GitHub Copilot</a:t>
            </a:r>
            <a:endParaRPr lang="en-US" sz="1200" dirty="0"/>
          </a:p>
        </p:txBody>
      </p:sp>
      <p:sp>
        <p:nvSpPr>
          <p:cNvPr id="28" name="Shape 19"/>
          <p:cNvSpPr/>
          <p:nvPr/>
        </p:nvSpPr>
        <p:spPr>
          <a:xfrm>
            <a:off x="4378237" y="4332331"/>
            <a:ext cx="0" cy="704784"/>
          </a:xfrm>
          <a:prstGeom prst="line">
            <a:avLst/>
          </a:prstGeom>
          <a:noFill/>
          <a:ln w="19050">
            <a:solidFill>
              <a:srgbClr val="D4B483"/>
            </a:solidFill>
            <a:prstDash val="solid"/>
          </a:ln>
        </p:spPr>
        <p:txBody>
          <a:bodyPr/>
          <a:lstStyle/>
          <a:p>
            <a:endParaRPr lang="en-AT"/>
          </a:p>
        </p:txBody>
      </p:sp>
      <p:sp>
        <p:nvSpPr>
          <p:cNvPr id="29" name="Text 20"/>
          <p:cNvSpPr/>
          <p:nvPr/>
        </p:nvSpPr>
        <p:spPr>
          <a:xfrm>
            <a:off x="4538706" y="4345009"/>
            <a:ext cx="3069039" cy="239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</a:pPr>
            <a:r>
              <a:rPr lang="en-US" sz="1300" b="1" kern="0" spc="-15" dirty="0">
                <a:solidFill>
                  <a:srgbClr val="2D343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Team Enablement</a:t>
            </a:r>
            <a:endParaRPr lang="en-US" sz="1300" dirty="0"/>
          </a:p>
        </p:txBody>
      </p:sp>
      <p:sp>
        <p:nvSpPr>
          <p:cNvPr id="30" name="Text 21"/>
          <p:cNvSpPr/>
          <p:nvPr/>
        </p:nvSpPr>
        <p:spPr>
          <a:xfrm>
            <a:off x="4538706" y="4597686"/>
            <a:ext cx="3069039" cy="4521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95F6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driven content production and delivery</a:t>
            </a:r>
            <a:endParaRPr lang="en-US" sz="1200" dirty="0"/>
          </a:p>
        </p:txBody>
      </p:sp>
      <p:sp>
        <p:nvSpPr>
          <p:cNvPr id="31" name="Shape 22"/>
          <p:cNvSpPr/>
          <p:nvPr/>
        </p:nvSpPr>
        <p:spPr>
          <a:xfrm>
            <a:off x="812767" y="5493775"/>
            <a:ext cx="6705588" cy="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AT"/>
          </a:p>
        </p:txBody>
      </p:sp>
      <p:sp>
        <p:nvSpPr>
          <p:cNvPr id="32" name="Text 23"/>
          <p:cNvSpPr/>
          <p:nvPr/>
        </p:nvSpPr>
        <p:spPr>
          <a:xfrm>
            <a:off x="812767" y="5608394"/>
            <a:ext cx="324407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595F6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integrations.at</a:t>
            </a:r>
            <a:endParaRPr lang="en-US" sz="1200" dirty="0"/>
          </a:p>
        </p:txBody>
      </p:sp>
      <p:sp>
        <p:nvSpPr>
          <p:cNvPr id="33" name="Text 24"/>
          <p:cNvSpPr/>
          <p:nvPr/>
        </p:nvSpPr>
        <p:spPr>
          <a:xfrm>
            <a:off x="4368712" y="5608394"/>
            <a:ext cx="3244133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595F6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github.com/alexander-kastil</a:t>
            </a:r>
            <a:endParaRPr lang="en-US" sz="1200" dirty="0"/>
          </a:p>
        </p:txBody>
      </p:sp>
      <p:sp>
        <p:nvSpPr>
          <p:cNvPr id="34" name="Text 25"/>
          <p:cNvSpPr/>
          <p:nvPr/>
        </p:nvSpPr>
        <p:spPr>
          <a:xfrm>
            <a:off x="812767" y="5839464"/>
            <a:ext cx="324407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595F6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alexander.kastil@integrations.at</a:t>
            </a:r>
            <a:endParaRPr lang="en-US" sz="1200" dirty="0"/>
          </a:p>
        </p:txBody>
      </p:sp>
      <p:sp>
        <p:nvSpPr>
          <p:cNvPr id="35" name="Text 26"/>
          <p:cNvSpPr/>
          <p:nvPr/>
        </p:nvSpPr>
        <p:spPr>
          <a:xfrm>
            <a:off x="4368712" y="5839464"/>
            <a:ext cx="3244133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595F6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linkedin.com/in/alexander-kastil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0980695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d-topics-box"/>
          <p:cNvSpPr/>
          <p:nvPr/>
        </p:nvSpPr>
        <p:spPr>
          <a:xfrm>
            <a:off x="812767" y="755700"/>
            <a:ext cx="3369755" cy="24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gd-topics-box"/>
          <p:cNvSpPr/>
          <p:nvPr/>
        </p:nvSpPr>
        <p:spPr>
          <a:xfrm>
            <a:off x="812767" y="755700"/>
            <a:ext cx="38089" cy="2400000"/>
          </a:xfrm>
          <a:prstGeom prst="rect">
            <a:avLst/>
          </a:prstGeom>
          <a:solidFill>
            <a:srgbClr val="D4B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gd-topics-text"/>
          <p:cNvSpPr txBox="1"/>
          <p:nvPr/>
        </p:nvSpPr>
        <p:spPr>
          <a:xfrm>
            <a:off x="1042767" y="985700"/>
            <a:ext cx="2909755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3400" b="1">
                <a:solidFill>
                  <a:srgbClr val="B08D57"/>
                </a:solidFill>
                <a:latin typeface="Montserrat"/>
              </a:rPr>
              <a:t>01</a:t>
            </a:r>
          </a:p>
        </p:txBody>
      </p:sp>
      <p:sp>
        <p:nvSpPr>
          <p:cNvPr id="5" name="gd-topics-text"/>
          <p:cNvSpPr txBox="1"/>
          <p:nvPr/>
        </p:nvSpPr>
        <p:spPr>
          <a:xfrm>
            <a:off x="1042767" y="1625700"/>
            <a:ext cx="2909755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1700" b="1">
                <a:solidFill>
                  <a:srgbClr val="2D3436"/>
                </a:solidFill>
                <a:latin typeface="Montserrat"/>
              </a:rPr>
              <a:t>Fundamentals &amp; Agent Mode Basics</a:t>
            </a:r>
          </a:p>
          <a:p>
            <a:pPr>
              <a:lnSpc>
                <a:spcPct val="95000"/>
              </a:lnSpc>
              <a:spcBef>
                <a:spcPts val="600"/>
              </a:spcBef>
            </a:pPr>
            <a:r>
              <a:rPr sz="1200" b="0">
                <a:solidFill>
                  <a:srgbClr val="595F67"/>
                </a:solidFill>
                <a:latin typeface="Poppins"/>
              </a:rPr>
              <a:t>Models, context window, Agent Mode and code review</a:t>
            </a:r>
          </a:p>
        </p:txBody>
      </p:sp>
      <p:sp>
        <p:nvSpPr>
          <p:cNvPr id="6" name="gd-topics-box"/>
          <p:cNvSpPr/>
          <p:nvPr/>
        </p:nvSpPr>
        <p:spPr>
          <a:xfrm>
            <a:off x="4411122" y="755700"/>
            <a:ext cx="3369755" cy="24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gd-topics-box"/>
          <p:cNvSpPr/>
          <p:nvPr/>
        </p:nvSpPr>
        <p:spPr>
          <a:xfrm>
            <a:off x="4411122" y="755700"/>
            <a:ext cx="38089" cy="2400000"/>
          </a:xfrm>
          <a:prstGeom prst="rect">
            <a:avLst/>
          </a:prstGeom>
          <a:solidFill>
            <a:srgbClr val="D4B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gd-topics-text"/>
          <p:cNvSpPr txBox="1"/>
          <p:nvPr/>
        </p:nvSpPr>
        <p:spPr>
          <a:xfrm>
            <a:off x="4641122" y="985700"/>
            <a:ext cx="2909755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3400" b="1">
                <a:solidFill>
                  <a:srgbClr val="B08D57"/>
                </a:solidFill>
                <a:latin typeface="Montserrat"/>
              </a:rPr>
              <a:t>02</a:t>
            </a:r>
          </a:p>
        </p:txBody>
      </p:sp>
      <p:sp>
        <p:nvSpPr>
          <p:cNvPr id="9" name="gd-topics-text"/>
          <p:cNvSpPr txBox="1"/>
          <p:nvPr/>
        </p:nvSpPr>
        <p:spPr>
          <a:xfrm>
            <a:off x="4641122" y="1625700"/>
            <a:ext cx="2909755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1700" b="1">
                <a:solidFill>
                  <a:srgbClr val="2D3436"/>
                </a:solidFill>
                <a:latin typeface="Montserrat"/>
              </a:rPr>
              <a:t>GitHub Copilot Harness</a:t>
            </a:r>
          </a:p>
          <a:p>
            <a:pPr>
              <a:lnSpc>
                <a:spcPct val="95000"/>
              </a:lnSpc>
              <a:spcBef>
                <a:spcPts val="600"/>
              </a:spcBef>
            </a:pPr>
            <a:r>
              <a:rPr sz="1200" b="0">
                <a:solidFill>
                  <a:srgbClr val="595F67"/>
                </a:solidFill>
                <a:latin typeface="Poppins"/>
              </a:rPr>
              <a:t>Instructions, prompts, MCP, skills, agents and hooks</a:t>
            </a:r>
          </a:p>
        </p:txBody>
      </p:sp>
      <p:sp>
        <p:nvSpPr>
          <p:cNvPr id="10" name="gd-topics-box"/>
          <p:cNvSpPr/>
          <p:nvPr/>
        </p:nvSpPr>
        <p:spPr>
          <a:xfrm>
            <a:off x="8009477" y="755700"/>
            <a:ext cx="3369755" cy="24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gd-topics-box"/>
          <p:cNvSpPr/>
          <p:nvPr/>
        </p:nvSpPr>
        <p:spPr>
          <a:xfrm>
            <a:off x="8009477" y="755700"/>
            <a:ext cx="38089" cy="2400000"/>
          </a:xfrm>
          <a:prstGeom prst="rect">
            <a:avLst/>
          </a:prstGeom>
          <a:solidFill>
            <a:srgbClr val="D4B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gd-topics-text"/>
          <p:cNvSpPr txBox="1"/>
          <p:nvPr/>
        </p:nvSpPr>
        <p:spPr>
          <a:xfrm>
            <a:off x="8239477" y="985700"/>
            <a:ext cx="2909755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3400" b="1">
                <a:solidFill>
                  <a:srgbClr val="B08D57"/>
                </a:solidFill>
                <a:latin typeface="Montserrat"/>
              </a:rPr>
              <a:t>03</a:t>
            </a:r>
          </a:p>
        </p:txBody>
      </p:sp>
      <p:sp>
        <p:nvSpPr>
          <p:cNvPr id="13" name="gd-topics-text"/>
          <p:cNvSpPr txBox="1"/>
          <p:nvPr/>
        </p:nvSpPr>
        <p:spPr>
          <a:xfrm>
            <a:off x="8239477" y="1625700"/>
            <a:ext cx="2909755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1700" b="1">
                <a:solidFill>
                  <a:srgbClr val="2D3436"/>
                </a:solidFill>
                <a:latin typeface="Montserrat"/>
              </a:rPr>
              <a:t>Implementing Agentic Coding</a:t>
            </a:r>
          </a:p>
          <a:p>
            <a:pPr>
              <a:lnSpc>
                <a:spcPct val="95000"/>
              </a:lnSpc>
              <a:spcBef>
                <a:spcPts val="600"/>
              </a:spcBef>
            </a:pPr>
            <a:r>
              <a:rPr sz="1200" b="0">
                <a:solidFill>
                  <a:srgbClr val="595F67"/>
                </a:solidFill>
                <a:latin typeface="Poppins"/>
              </a:rPr>
              <a:t>Local, cloud and orchestrated agents, browser tools</a:t>
            </a:r>
          </a:p>
        </p:txBody>
      </p:sp>
      <p:sp>
        <p:nvSpPr>
          <p:cNvPr id="14" name="gd-topics-box"/>
          <p:cNvSpPr/>
          <p:nvPr/>
        </p:nvSpPr>
        <p:spPr>
          <a:xfrm>
            <a:off x="2611944" y="3384300"/>
            <a:ext cx="3369755" cy="24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gd-topics-box"/>
          <p:cNvSpPr/>
          <p:nvPr/>
        </p:nvSpPr>
        <p:spPr>
          <a:xfrm>
            <a:off x="2611944" y="3384300"/>
            <a:ext cx="38089" cy="2400000"/>
          </a:xfrm>
          <a:prstGeom prst="rect">
            <a:avLst/>
          </a:prstGeom>
          <a:solidFill>
            <a:srgbClr val="D4B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gd-topics-text"/>
          <p:cNvSpPr txBox="1"/>
          <p:nvPr/>
        </p:nvSpPr>
        <p:spPr>
          <a:xfrm>
            <a:off x="2841944" y="3614300"/>
            <a:ext cx="2909755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3400" b="1">
                <a:solidFill>
                  <a:srgbClr val="B08D57"/>
                </a:solidFill>
                <a:latin typeface="Montserrat"/>
              </a:rPr>
              <a:t>04</a:t>
            </a:r>
          </a:p>
        </p:txBody>
      </p:sp>
      <p:sp>
        <p:nvSpPr>
          <p:cNvPr id="17" name="gd-topics-text"/>
          <p:cNvSpPr txBox="1"/>
          <p:nvPr/>
        </p:nvSpPr>
        <p:spPr>
          <a:xfrm>
            <a:off x="2841944" y="4254300"/>
            <a:ext cx="2909755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1700" b="1">
                <a:solidFill>
                  <a:srgbClr val="2D3436"/>
                </a:solidFill>
                <a:latin typeface="Montserrat"/>
              </a:rPr>
              <a:t>Agent Sessions &amp; Agents Window</a:t>
            </a:r>
          </a:p>
          <a:p>
            <a:pPr>
              <a:lnSpc>
                <a:spcPct val="95000"/>
              </a:lnSpc>
              <a:spcBef>
                <a:spcPts val="600"/>
              </a:spcBef>
            </a:pPr>
            <a:r>
              <a:rPr sz="1200" b="0">
                <a:solidFill>
                  <a:srgbClr val="595F67"/>
                </a:solidFill>
                <a:latin typeface="Poppins"/>
              </a:rPr>
              <a:t>Agents window, host protocol and remote sessions</a:t>
            </a:r>
          </a:p>
        </p:txBody>
      </p:sp>
      <p:sp>
        <p:nvSpPr>
          <p:cNvPr id="18" name="gd-topics-box"/>
          <p:cNvSpPr/>
          <p:nvPr/>
        </p:nvSpPr>
        <p:spPr>
          <a:xfrm>
            <a:off x="6210299" y="3384300"/>
            <a:ext cx="3369755" cy="24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gd-topics-box"/>
          <p:cNvSpPr/>
          <p:nvPr/>
        </p:nvSpPr>
        <p:spPr>
          <a:xfrm>
            <a:off x="6210299" y="3384300"/>
            <a:ext cx="38089" cy="2400000"/>
          </a:xfrm>
          <a:prstGeom prst="rect">
            <a:avLst/>
          </a:prstGeom>
          <a:solidFill>
            <a:srgbClr val="D4B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gd-topics-text"/>
          <p:cNvSpPr txBox="1"/>
          <p:nvPr/>
        </p:nvSpPr>
        <p:spPr>
          <a:xfrm>
            <a:off x="6440299" y="3614300"/>
            <a:ext cx="2909755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3400" b="1">
                <a:solidFill>
                  <a:srgbClr val="B08D57"/>
                </a:solidFill>
                <a:latin typeface="Montserrat"/>
              </a:rPr>
              <a:t>05</a:t>
            </a:r>
          </a:p>
        </p:txBody>
      </p:sp>
      <p:sp>
        <p:nvSpPr>
          <p:cNvPr id="21" name="gd-topics-text"/>
          <p:cNvSpPr txBox="1"/>
          <p:nvPr/>
        </p:nvSpPr>
        <p:spPr>
          <a:xfrm>
            <a:off x="6440299" y="4254300"/>
            <a:ext cx="2909755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1700" b="1">
                <a:solidFill>
                  <a:srgbClr val="2D3436"/>
                </a:solidFill>
                <a:latin typeface="Montserrat"/>
              </a:rPr>
              <a:t>GitHub Copilot CLI &amp; SDK</a:t>
            </a:r>
          </a:p>
          <a:p>
            <a:pPr>
              <a:lnSpc>
                <a:spcPct val="95000"/>
              </a:lnSpc>
              <a:spcBef>
                <a:spcPts val="600"/>
              </a:spcBef>
            </a:pPr>
            <a:r>
              <a:rPr sz="1200" b="0">
                <a:solidFill>
                  <a:srgbClr val="595F67"/>
                </a:solidFill>
                <a:latin typeface="Poppins"/>
              </a:rPr>
              <a:t>CLI, agentic workflows and SDK agents on Azure</a:t>
            </a:r>
          </a:p>
        </p:txBody>
      </p:sp>
      <p:sp>
        <p:nvSpPr>
          <p:cNvPr id="22" name="gd-topics-box"/>
          <p:cNvSpPr/>
          <p:nvPr/>
        </p:nvSpPr>
        <p:spPr>
          <a:xfrm>
            <a:off x="812767" y="6190000"/>
            <a:ext cx="10566466" cy="12700"/>
          </a:xfrm>
          <a:prstGeom prst="rect">
            <a:avLst/>
          </a:prstGeom>
          <a:solidFill>
            <a:srgbClr val="E3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gd-topics-text"/>
          <p:cNvSpPr txBox="1"/>
          <p:nvPr/>
        </p:nvSpPr>
        <p:spPr>
          <a:xfrm>
            <a:off x="812767" y="6290000"/>
            <a:ext cx="10566466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1100" b="0">
                <a:solidFill>
                  <a:srgbClr val="595F67"/>
                </a:solidFill>
                <a:latin typeface="Poppins"/>
              </a:rPr>
              <a:t>Agentic Software Engineering using GitHub Copilot</a:t>
            </a:r>
          </a:p>
        </p:txBody>
      </p:sp>
    </p:spTree>
    <p:extLst>
      <p:ext uri="{BB962C8B-B14F-4D97-AF65-F5344CB8AC3E}">
        <p14:creationId xmlns:p14="http://schemas.microsoft.com/office/powerpoint/2010/main" val="2739704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d-topics-box"/>
          <p:cNvSpPr/>
          <p:nvPr/>
        </p:nvSpPr>
        <p:spPr>
          <a:xfrm>
            <a:off x="812767" y="2070000"/>
            <a:ext cx="2470166" cy="24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gd-topics-box"/>
          <p:cNvSpPr/>
          <p:nvPr/>
        </p:nvSpPr>
        <p:spPr>
          <a:xfrm>
            <a:off x="812767" y="2070000"/>
            <a:ext cx="38089" cy="2400000"/>
          </a:xfrm>
          <a:prstGeom prst="rect">
            <a:avLst/>
          </a:prstGeom>
          <a:solidFill>
            <a:srgbClr val="D4B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gd-topics-text"/>
          <p:cNvSpPr txBox="1"/>
          <p:nvPr/>
        </p:nvSpPr>
        <p:spPr>
          <a:xfrm>
            <a:off x="1042767" y="2300000"/>
            <a:ext cx="2010166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3400" b="1">
                <a:solidFill>
                  <a:srgbClr val="B08D57"/>
                </a:solidFill>
                <a:latin typeface="Montserrat"/>
              </a:rPr>
              <a:t>06</a:t>
            </a:r>
          </a:p>
        </p:txBody>
      </p:sp>
      <p:sp>
        <p:nvSpPr>
          <p:cNvPr id="5" name="gd-topics-text"/>
          <p:cNvSpPr txBox="1"/>
          <p:nvPr/>
        </p:nvSpPr>
        <p:spPr>
          <a:xfrm>
            <a:off x="1042767" y="2940000"/>
            <a:ext cx="2010166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1700" b="1">
                <a:solidFill>
                  <a:srgbClr val="2D3436"/>
                </a:solidFill>
                <a:latin typeface="Montserrat"/>
              </a:rPr>
              <a:t>GitHub Copilot App</a:t>
            </a:r>
          </a:p>
          <a:p>
            <a:pPr>
              <a:lnSpc>
                <a:spcPct val="95000"/>
              </a:lnSpc>
              <a:spcBef>
                <a:spcPts val="600"/>
              </a:spcBef>
            </a:pPr>
            <a:r>
              <a:rPr sz="1200" b="0">
                <a:solidFill>
                  <a:srgbClr val="595F67"/>
                </a:solidFill>
                <a:latin typeface="Poppins"/>
              </a:rPr>
              <a:t>Sessions, validation loop, automations and sync</a:t>
            </a:r>
          </a:p>
        </p:txBody>
      </p:sp>
      <p:sp>
        <p:nvSpPr>
          <p:cNvPr id="6" name="gd-topics-box"/>
          <p:cNvSpPr/>
          <p:nvPr/>
        </p:nvSpPr>
        <p:spPr>
          <a:xfrm>
            <a:off x="3511533" y="2070000"/>
            <a:ext cx="2470166" cy="24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gd-topics-box"/>
          <p:cNvSpPr/>
          <p:nvPr/>
        </p:nvSpPr>
        <p:spPr>
          <a:xfrm>
            <a:off x="3511533" y="2070000"/>
            <a:ext cx="38089" cy="2400000"/>
          </a:xfrm>
          <a:prstGeom prst="rect">
            <a:avLst/>
          </a:prstGeom>
          <a:solidFill>
            <a:srgbClr val="D4B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gd-topics-text"/>
          <p:cNvSpPr txBox="1"/>
          <p:nvPr/>
        </p:nvSpPr>
        <p:spPr>
          <a:xfrm>
            <a:off x="3741533" y="2300000"/>
            <a:ext cx="2010166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3400" b="1">
                <a:solidFill>
                  <a:srgbClr val="B08D57"/>
                </a:solidFill>
                <a:latin typeface="Montserrat"/>
              </a:rPr>
              <a:t>07</a:t>
            </a:r>
          </a:p>
        </p:txBody>
      </p:sp>
      <p:sp>
        <p:nvSpPr>
          <p:cNvPr id="9" name="gd-topics-text"/>
          <p:cNvSpPr txBox="1"/>
          <p:nvPr/>
        </p:nvSpPr>
        <p:spPr>
          <a:xfrm>
            <a:off x="3741533" y="2940000"/>
            <a:ext cx="2010166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1700" b="1">
                <a:solidFill>
                  <a:srgbClr val="2D3436"/>
                </a:solidFill>
                <a:latin typeface="Montserrat"/>
              </a:rPr>
              <a:t>Agentic DevOps</a:t>
            </a:r>
          </a:p>
          <a:p>
            <a:pPr>
              <a:lnSpc>
                <a:spcPct val="95000"/>
              </a:lnSpc>
              <a:spcBef>
                <a:spcPts val="600"/>
              </a:spcBef>
            </a:pPr>
            <a:r>
              <a:rPr sz="1200" b="0">
                <a:solidFill>
                  <a:srgbClr val="595F67"/>
                </a:solidFill>
                <a:latin typeface="Poppins"/>
              </a:rPr>
              <a:t>IaC, GitHub Actions, testing and documentation</a:t>
            </a:r>
          </a:p>
        </p:txBody>
      </p:sp>
      <p:sp>
        <p:nvSpPr>
          <p:cNvPr id="10" name="gd-topics-box"/>
          <p:cNvSpPr/>
          <p:nvPr/>
        </p:nvSpPr>
        <p:spPr>
          <a:xfrm>
            <a:off x="6210299" y="2070000"/>
            <a:ext cx="2470166" cy="24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gd-topics-box"/>
          <p:cNvSpPr/>
          <p:nvPr/>
        </p:nvSpPr>
        <p:spPr>
          <a:xfrm>
            <a:off x="6210299" y="2070000"/>
            <a:ext cx="38089" cy="2400000"/>
          </a:xfrm>
          <a:prstGeom prst="rect">
            <a:avLst/>
          </a:prstGeom>
          <a:solidFill>
            <a:srgbClr val="D4B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gd-topics-text"/>
          <p:cNvSpPr txBox="1"/>
          <p:nvPr/>
        </p:nvSpPr>
        <p:spPr>
          <a:xfrm>
            <a:off x="6440299" y="2300000"/>
            <a:ext cx="2010166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3400" b="1">
                <a:solidFill>
                  <a:srgbClr val="B08D57"/>
                </a:solidFill>
                <a:latin typeface="Montserrat"/>
              </a:rPr>
              <a:t>08</a:t>
            </a:r>
          </a:p>
        </p:txBody>
      </p:sp>
      <p:sp>
        <p:nvSpPr>
          <p:cNvPr id="13" name="gd-topics-text"/>
          <p:cNvSpPr txBox="1"/>
          <p:nvPr/>
        </p:nvSpPr>
        <p:spPr>
          <a:xfrm>
            <a:off x="6440299" y="2940000"/>
            <a:ext cx="2010166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1700" b="1">
                <a:solidFill>
                  <a:srgbClr val="2D3436"/>
                </a:solidFill>
                <a:latin typeface="Montserrat"/>
              </a:rPr>
              <a:t>Governance, Cost &amp; Observability</a:t>
            </a:r>
          </a:p>
          <a:p>
            <a:pPr>
              <a:lnSpc>
                <a:spcPct val="95000"/>
              </a:lnSpc>
              <a:spcBef>
                <a:spcPts val="600"/>
              </a:spcBef>
            </a:pPr>
            <a:r>
              <a:rPr sz="1200" b="0">
                <a:solidFill>
                  <a:srgbClr val="595F67"/>
                </a:solidFill>
                <a:latin typeface="Poppins"/>
              </a:rPr>
              <a:t>Permissions, AI credits, BYOK and compliance</a:t>
            </a:r>
          </a:p>
        </p:txBody>
      </p:sp>
      <p:sp>
        <p:nvSpPr>
          <p:cNvPr id="14" name="gd-topics-box"/>
          <p:cNvSpPr/>
          <p:nvPr/>
        </p:nvSpPr>
        <p:spPr>
          <a:xfrm>
            <a:off x="8909065" y="2070000"/>
            <a:ext cx="2470166" cy="24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gd-topics-box"/>
          <p:cNvSpPr/>
          <p:nvPr/>
        </p:nvSpPr>
        <p:spPr>
          <a:xfrm>
            <a:off x="8909065" y="2070000"/>
            <a:ext cx="38089" cy="2400000"/>
          </a:xfrm>
          <a:prstGeom prst="rect">
            <a:avLst/>
          </a:prstGeom>
          <a:solidFill>
            <a:srgbClr val="D4B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gd-topics-text"/>
          <p:cNvSpPr txBox="1"/>
          <p:nvPr/>
        </p:nvSpPr>
        <p:spPr>
          <a:xfrm>
            <a:off x="9139065" y="2300000"/>
            <a:ext cx="2010166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3400" b="1">
                <a:solidFill>
                  <a:srgbClr val="B08D57"/>
                </a:solidFill>
                <a:latin typeface="Montserrat"/>
              </a:rPr>
              <a:t>09</a:t>
            </a:r>
          </a:p>
        </p:txBody>
      </p:sp>
      <p:sp>
        <p:nvSpPr>
          <p:cNvPr id="17" name="gd-topics-text"/>
          <p:cNvSpPr txBox="1"/>
          <p:nvPr/>
        </p:nvSpPr>
        <p:spPr>
          <a:xfrm>
            <a:off x="9139065" y="2940000"/>
            <a:ext cx="2010166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1700" b="1">
                <a:solidFill>
                  <a:srgbClr val="2D3436"/>
                </a:solidFill>
                <a:latin typeface="Montserrat"/>
              </a:rPr>
              <a:t>Plan, Specify, Deliver</a:t>
            </a:r>
          </a:p>
          <a:p>
            <a:pPr>
              <a:lnSpc>
                <a:spcPct val="95000"/>
              </a:lnSpc>
              <a:spcBef>
                <a:spcPts val="600"/>
              </a:spcBef>
            </a:pPr>
            <a:r>
              <a:rPr sz="1200" b="0">
                <a:solidFill>
                  <a:srgbClr val="595F67"/>
                </a:solidFill>
                <a:latin typeface="Poppins"/>
              </a:rPr>
              <a:t>Analysis, planning and Spec Kit end to end</a:t>
            </a:r>
          </a:p>
        </p:txBody>
      </p:sp>
      <p:sp>
        <p:nvSpPr>
          <p:cNvPr id="18" name="gd-topics-box"/>
          <p:cNvSpPr/>
          <p:nvPr/>
        </p:nvSpPr>
        <p:spPr>
          <a:xfrm>
            <a:off x="812767" y="6190000"/>
            <a:ext cx="10566466" cy="12700"/>
          </a:xfrm>
          <a:prstGeom prst="rect">
            <a:avLst/>
          </a:prstGeom>
          <a:solidFill>
            <a:srgbClr val="E3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gd-topics-text"/>
          <p:cNvSpPr txBox="1"/>
          <p:nvPr/>
        </p:nvSpPr>
        <p:spPr>
          <a:xfrm>
            <a:off x="812767" y="6290000"/>
            <a:ext cx="10566466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1100" b="0">
                <a:solidFill>
                  <a:srgbClr val="595F67"/>
                </a:solidFill>
                <a:latin typeface="Poppins"/>
              </a:rPr>
              <a:t>Agentic Software Engineering using GitHub Copilot</a:t>
            </a:r>
          </a:p>
        </p:txBody>
      </p:sp>
    </p:spTree>
    <p:extLst>
      <p:ext uri="{BB962C8B-B14F-4D97-AF65-F5344CB8AC3E}">
        <p14:creationId xmlns:p14="http://schemas.microsoft.com/office/powerpoint/2010/main" val="2053929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428</Words>
  <Application>Microsoft Office PowerPoint</Application>
  <PresentationFormat>Widescreen</PresentationFormat>
  <Paragraphs>75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4" baseType="lpstr">
      <vt:lpstr>Aptos</vt:lpstr>
      <vt:lpstr>Calibri</vt:lpstr>
      <vt:lpstr>Poppins</vt:lpstr>
      <vt:lpstr>Montserrat</vt:lpstr>
      <vt:lpstr>IBM Plex Sans</vt:lpstr>
      <vt:lpstr>Arial</vt:lpstr>
      <vt:lpstr>Wingdings</vt:lpstr>
      <vt:lpstr>IBM Plex Sans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Alexander Kastil</cp:lastModifiedBy>
  <cp:revision>6</cp:revision>
  <dcterms:created xsi:type="dcterms:W3CDTF">2026-09-22T19:36:14Z</dcterms:created>
  <dcterms:modified xsi:type="dcterms:W3CDTF">2026-09-24T19:54:54Z</dcterms:modified>
</cp:coreProperties>
</file>