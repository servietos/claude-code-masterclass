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7"/>
  </p:notesMasterIdLst>
  <p:sldIdLst>
    <p:sldId id="502" r:id="rId2"/>
    <p:sldId id="503" r:id="rId3"/>
    <p:sldId id="504" r:id="rId4"/>
    <p:sldId id="505" r:id="rId22"/>
    <p:sldId id="256" r:id="rId5"/>
    <p:sldId id="257" r:id="rId6"/>
    <p:sldId id="506" r:id="rId46"/>
    <p:sldId id="258" r:id="rId7"/>
    <p:sldId id="259" r:id="rId8"/>
    <p:sldId id="274" r:id="rId23"/>
    <p:sldId id="507" r:id="rId47"/>
    <p:sldId id="260" r:id="rId9"/>
    <p:sldId id="279" r:id="rId10"/>
    <p:sldId id="262" r:id="rId11"/>
    <p:sldId id="263" r:id="rId12"/>
    <p:sldId id="508" r:id="rId48"/>
    <p:sldId id="278" r:id="rId13"/>
    <p:sldId id="265" r:id="rId14"/>
    <p:sldId id="266" r:id="rId15"/>
    <p:sldId id="509" r:id="rId49"/>
    <p:sldId id="267" r:id="rId16"/>
    <p:sldId id="268" r:id="rId17"/>
    <p:sldId id="269" r:id="rId18"/>
    <p:sldId id="510" r:id="rId50"/>
    <p:sldId id="270" r:id="rId19"/>
    <p:sldId id="271" r:id="rId20"/>
    <p:sldId id="511" r:id="rId51"/>
    <p:sldId id="272" r:id="rId21"/>
    <p:sldId id="512" r:id="rId52"/>
    <p:sldId id="275" r:id="rId24"/>
    <p:sldId id="276" r:id="rId25"/>
    <p:sldId id="277" r:id="rId26"/>
  </p:sldIdLst>
  <p:sldSz cx="12192000" cy="6858000"/>
  <p:notesSz cx="6858000" cy="12192000"/>
  <p:embeddedFontLst>
    <p:embeddedFont>
      <p:font typeface="Consolas" panose="020B0609020204030204" pitchFamily="49" charset="0"/>
      <p:regular r:id="rId28"/>
      <p:bold r:id="rId29"/>
      <p:italic r:id="rId30"/>
      <p:boldItalic r:id="rId31"/>
    </p:embeddedFont>
    <p:embeddedFont>
      <p:font typeface="IBM Plex Sans" panose="020B0503050203000203" pitchFamily="34" charset="0"/>
      <p:regular r:id="rId32"/>
    </p:embeddedFont>
    <p:embeddedFont>
      <p:font typeface="IBM Plex Sans Light" panose="020B0403050203000203" pitchFamily="34" charset="0"/>
      <p:regular r:id="rId33"/>
    </p:embeddedFont>
    <p:embeddedFont>
      <p:font typeface="Montserrat" panose="00000500000000000000" pitchFamily="2" charset="0"/>
      <p:regular r:id="rId34"/>
      <p:bold r:id="rId35"/>
      <p:italic r:id="rId36"/>
      <p:boldItalic r:id="rId37"/>
    </p:embeddedFont>
    <p:embeddedFont>
      <p:font typeface="Poppins" panose="00000500000000000000" pitchFamily="2" charset="0"/>
      <p:regular r:id="rId38"/>
    </p:embeddedFont>
    <p:embeddedFont>
      <p:font typeface="Public Sans Bold" panose="020B0604020202020204" charset="0"/>
      <p:regular r:id="rId39"/>
    </p:embeddedFont>
    <p:embeddedFont>
      <p:font typeface="Public Sans Light" panose="020B0604020202020204" charset="0"/>
      <p:regular r:id="rId40"/>
    </p:embeddedFont>
    <p:embeddedFont>
      <p:font typeface="Source Serif 4" panose="020B0604020202020204" charset="0"/>
      <p:regular r:id="rId4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5.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4.xml"/><Relationship Id="rId23" Type="http://schemas.openxmlformats.org/officeDocument/2006/relationships/slide" Target="slides/slide10.xml"/><Relationship Id="rId24" Type="http://schemas.openxmlformats.org/officeDocument/2006/relationships/slide" Target="slides/slide30.xml"/><Relationship Id="rId25" Type="http://schemas.openxmlformats.org/officeDocument/2006/relationships/slide" Target="slides/slide31.xml"/><Relationship Id="rId26" Type="http://schemas.openxmlformats.org/officeDocument/2006/relationships/slide" Target="slides/slide32.xml"/><Relationship Id="rId27" Type="http://schemas.openxmlformats.org/officeDocument/2006/relationships/notesMaster" Target="notesMasters/notesMaster1.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font" Target="fonts/font5.fntdata"/><Relationship Id="rId33" Type="http://schemas.openxmlformats.org/officeDocument/2006/relationships/font" Target="fonts/font6.fntdata"/><Relationship Id="rId34" Type="http://schemas.openxmlformats.org/officeDocument/2006/relationships/font" Target="fonts/font7.fntdata"/><Relationship Id="rId35" Type="http://schemas.openxmlformats.org/officeDocument/2006/relationships/font" Target="fonts/font8.fntdata"/><Relationship Id="rId36" Type="http://schemas.openxmlformats.org/officeDocument/2006/relationships/font" Target="fonts/font9.fntdata"/><Relationship Id="rId37" Type="http://schemas.openxmlformats.org/officeDocument/2006/relationships/font" Target="fonts/font10.fntdata"/><Relationship Id="rId38" Type="http://schemas.openxmlformats.org/officeDocument/2006/relationships/font" Target="fonts/font11.fntdata"/><Relationship Id="rId39" Type="http://schemas.openxmlformats.org/officeDocument/2006/relationships/font" Target="fonts/font12.fntdata"/><Relationship Id="rId40" Type="http://schemas.openxmlformats.org/officeDocument/2006/relationships/font" Target="fonts/font13.fntdata"/><Relationship Id="rId41" Type="http://schemas.openxmlformats.org/officeDocument/2006/relationships/font" Target="fonts/font14.fntdata"/><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7.xml"/><Relationship Id="rId47" Type="http://schemas.openxmlformats.org/officeDocument/2006/relationships/slide" Target="slides/slide11.xml"/><Relationship Id="rId48" Type="http://schemas.openxmlformats.org/officeDocument/2006/relationships/slide" Target="slides/slide16.xml"/><Relationship Id="rId49" Type="http://schemas.openxmlformats.org/officeDocument/2006/relationships/slide" Target="slides/slide20.xml"/><Relationship Id="rId50" Type="http://schemas.openxmlformats.org/officeDocument/2006/relationships/slide" Target="slides/slide24.xml"/><Relationship Id="rId51" Type="http://schemas.openxmlformats.org/officeDocument/2006/relationships/slide" Target="slides/slide27.xml"/><Relationship Id="rId52"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396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608922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6951205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opening slide for the module: it sets out what the class covers first and where it pivots.</a:t>
            </a:r>
          </a:p>
          <a:p/>
          <a:p>
            <a:r>
              <a:t>Essentials: inline suggestions, chat interactions, prompting techniques, context engineering and multi-model selection are the core capabilities and foundational concepts of Copilot.</a:t>
            </a:r>
          </a:p>
          <a:p/>
          <a:p>
            <a:r>
              <a:t>Agent Mode: the module pivots early to Agent Mode, so you leave the fundamentals already driving a local agent through real, multi-step work.</a:t>
            </a:r>
          </a:p>
          <a:p/>
          <a:p>
            <a:r>
              <a:t>Guardrails: pull requests and code reviews, settings that keep secrets out of context, and a terminal that gives agents machine-readable output round out the module.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module's seven topics once, following on from the three themes of the title slide.</a:t>
            </a:r>
          </a:p>
          <a:p/>
          <a:p>
            <a:r>
              <a:t>Getting started: the path opens with Copilot's two modes and the settings that keep secrets out, then selecting a model by context size, cost and task, then what fills the context window.</a:t>
            </a:r>
          </a:p>
          <a:p/>
          <a:p>
            <a:r>
              <a:t>One place for AI-assisted coding: prompting techniques, inline suggestions, slash commands and context variables are taught together in a single topic.</a:t>
            </a:r>
          </a:p>
          <a:p/>
          <a:p>
            <a:r>
              <a:t>The pivot to Agent Mode: a local agent scaffolds a project, fixes an error and runs an update. This is where the class stops typing code and starts assigning work.</a:t>
            </a:r>
          </a:p>
          <a:p/>
          <a:p>
            <a:r>
              <a:t>Guardrails: the path finishes with pull requests and code reviews and the terminal the agent works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topic starts with the two ways Copilot works, because the rest of the class is built on the difference.</a:t>
            </a:r>
          </a:p>
          <a:p/>
          <a:p>
            <a:r>
              <a:t>AI Assisted Coding: Copilot provides real-time completions and suggestions as you type.</a:t>
            </a:r>
          </a:p>
          <a:p/>
          <a:p>
            <a:r>
              <a:t>Accept or modify: you stay in control of each highlighted snippet, taking it as is or changing it directly.</a:t>
            </a:r>
          </a:p>
          <a:p/>
          <a:p>
            <a:r>
              <a:t>Agentic Software Engineering: specialized agents work autonomously toward an assigned goal instead of completing the line you are typing.</a:t>
            </a:r>
          </a:p>
          <a:p/>
          <a:p>
            <a:r>
              <a:t>Orchestration: agents orchestrate multiple tools and decisions to deliver complete solutions. The class introduces AI Assisted Coding quickly and focuses on this mode.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two modes clear, the next question is where Copilot is configured. Settings control Copilot behavior, inline suggestions, model selection and workspace consistency across a team.</a:t>
            </a:r>
          </a:p>
          <a:p/>
          <a:p>
            <a:r>
              <a:t>User settings: personal preferences that apply across all your workspaces.</a:t>
            </a:r>
          </a:p>
          <a:p/>
          <a:p>
            <a:r>
              <a:t>Workspace settings: .vscode/settings.json holds project-specific overrides, so the whole team works with the same configuration.</a:t>
            </a:r>
          </a:p>
          <a:p/>
          <a:p>
            <a:r>
              <a:t>Dev Container: .devcontainer/devcontainer.json gives a standardized environment with pre-configured extensions and tools.</a:t>
            </a:r>
          </a:p>
          <a:p/>
          <a:p>
            <a:r>
              <a:t>Two essential settings: github.copilot.enable switches Copilot on or off per language, and editor.inlineSuggest.enabled turns on inline suggestions.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opens model selection, which is a capability decision rather than a brand-name decision: context size, reasoning depth and cost per request.</a:t>
            </a:r>
          </a:p>
          <a:p/>
          <a:p>
            <a:r>
              <a:t>Built-in: built-in Copilot models need only a signed-in Copilot license and no extra configuration.</a:t>
            </a:r>
          </a:p>
          <a:p/>
          <a:p>
            <a:r>
              <a:t>BYOK: bring your own key lets you use your own API key without signing in to GitHub. Reach for it for air-gapped or offline work and direct billing.</a:t>
            </a:r>
          </a:p>
          <a:p/>
          <a:p>
            <a:r>
              <a:t>Custom Endpoint: you supply your endpoint URL and request shape, for self-hosted or proxied models behind your own gateway.</a:t>
            </a:r>
          </a:p>
          <a:p/>
          <a:p>
            <a:r>
              <a:t>Marketplace providers: a provider Copilot does not ship by default installs from the Marketplace like any other extension.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a model is reachable, the picker is where you tune it, and where model selection becomes a spending decision.</a:t>
            </a:r>
          </a:p>
          <a:p/>
          <a:p>
            <a:r>
              <a:t>1M-token context: supported Anthropic and OpenAI models can hold a large codebase, long conversation history and detailed instructions at once. A wider window costs more per request.</a:t>
            </a:r>
          </a:p>
          <a:p/>
          <a:p>
            <a:r>
              <a:t>Reasoning effort: context size and reasoning effort are chosen in the same place. Raise effort for hard debugging or design work and keep it low for routine edits.</a:t>
            </a:r>
          </a:p>
          <a:p/>
          <a:p>
            <a:r>
              <a:t>Cost beside the name: the budget impact of a choice is visible at the moment you make it. Hovering a response footer shows input, cached input and output tokens per model (1.135).</a:t>
            </a:r>
          </a:p>
          <a:p/>
          <a:p>
            <a:r>
              <a:t>One list: Copilot and Anthropic models share one list, so a deep-reasoning turn and a cheaper cleanup turn can use different providers in the same conversation.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49259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BYOK has one trap worth a slide of its own, because it fails without an error.</a:t>
            </a:r>
          </a:p>
          <a:p/>
          <a:p>
            <a:r>
              <a:t>No GitHub sign-in: BYOK runs Copilot chat and agent sessions on your own key, which unlocks air-gapped and fully offline workflows.</a:t>
            </a:r>
          </a:p>
          <a:p/>
          <a:p>
            <a:r>
              <a:t>Inline suggestions: inline suggestions and Next Edit Suggestions still require a signed-in Copilot license. A BYOK-only setup gives you chat and agents but not ghost-text completions.</a:t>
            </a:r>
          </a:p>
          <a:p/>
          <a:p>
            <a:r>
              <a:t>Utility model: chat.utilityModel drives chat titles, commit messages and intent detection. These background tasks run on dedicated settings so they do not consume your strongest model.</a:t>
            </a:r>
          </a:p>
          <a:p/>
          <a:p>
            <a:r>
              <a:t>Silent stop: built-in utility defaults do not apply to a BYOK main model, so those tasks silently stop with no error. Set chat.byokUtilityModelDefault whenever you go BYOK.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model slide covers the Custom Endpoint provider and tuning a single model.</a:t>
            </a:r>
          </a:p>
          <a:p/>
          <a:p>
            <a:r>
              <a:t>Custom Endpoint: the provider replaces the legacy OpenAI-compatible provider.</a:t>
            </a:r>
          </a:p>
          <a:p/>
          <a:p>
            <a:r>
              <a:t>Three request shapes: chat-completions for OpenAI-style chat APIs, responses for the OpenAI Responses API, and messages for Anthropic-style endpoints. Pick the shape your endpoint speaks and Copilot formats requests accordingly.</a:t>
            </a:r>
          </a:p>
          <a:p/>
          <a:p>
            <a:r>
              <a:t>modelOptions: temperature and top_p are set per model. Lower the temperature for deterministic refactors and raise it to explore alternatives; both can live in one workspace.</a:t>
            </a:r>
          </a:p>
          <a:p/>
          <a:p>
            <a:r>
              <a:t>Ollama: the previously built-in Ollama provider is deprecated. Install the official Ollama extension from the Marketplace to keep receiving updates.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choosing a model, the next topic looks at what that model actually receives: the context window and the layers that fill it.</a:t>
            </a:r>
          </a:p>
          <a:p/>
          <a:p>
            <a:r>
              <a:t>Foundation: system instructions and tool definitions are provided by Copilot and form the base of every request.</a:t>
            </a:r>
          </a:p>
          <a:p/>
          <a:p>
            <a:r>
              <a:t>Custom instructions and skills: custom instructions provide explicit references to your project rules, and skills add specialized capabilities.</a:t>
            </a:r>
          </a:p>
          <a:p/>
          <a:p>
            <a:r>
              <a:t>User context: open files, selections and attached references supply the immediate problem details from the remaining budget.</a:t>
            </a:r>
          </a:p>
          <a:p/>
          <a:p>
            <a:r>
              <a:t>Conversation history: previous exchanges are carried forward. Every layer spends the same budget, whether it is Claude Haiku 4.5 with 200K tokens or Gemini 3 Pro with about 1,000,000.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2559067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Knowing the layers leads to a decision about their order, because many of the models behind Copilot now cache the stable prefix of a request.</a:t>
            </a:r>
          </a:p>
          <a:p/>
          <a:p>
            <a:r>
              <a:t>Reused on the next turn: system instructions, tool definitions, custom instructions and large attached files are processed once and reused, so a repeated prefix costs less and returns faster.</a:t>
            </a:r>
          </a:p>
          <a:p/>
          <a:p>
            <a:r>
              <a:t>Order matters: put instructions and big reference files first, and let the volatile part, your latest question or current selection, come last.</a:t>
            </a:r>
          </a:p>
          <a:p/>
          <a:p>
            <a:r>
              <a:t>Invalidation: editing or reordering early context invalidates the cache, so a small change near the top can force the whole prefix to be reprocessed.</a:t>
            </a:r>
          </a:p>
          <a:p/>
          <a:p>
            <a:r>
              <a:t>Lower rate: cached tokens are billed at a lower rate, so a stable prefix is a budget decision as much as a quality one. The cost model is covered in the Governance module.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583193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context slide turns the layers into practice: compose the context deliberately for each task.</a:t>
            </a:r>
          </a:p>
          <a:p/>
          <a:p>
            <a:r>
              <a:t>Indicator: the context window indicator shows token usage as you work, so you can see how much of the budget is spent.</a:t>
            </a:r>
          </a:p>
          <a:p/>
          <a:p>
            <a:r>
              <a:t>What to attach: project instructions for naming conventions, libraries and patterns, relevant source files to ground suggestions, and code samples that show your style.</a:t>
            </a:r>
          </a:p>
          <a:p/>
          <a:p>
            <a:r>
              <a:t>Not every file: be intentional about what helps Copilot understand the specific problem. This keeps token usage efficient and puts the most relevant context first.</a:t>
            </a:r>
          </a:p>
          <a:p/>
          <a:p>
            <a:r>
              <a:t>ProTip: summarize your context into a feature-xxx.md file, start a new conversation and attach that file to get a fresh context window with the most relevant information.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570410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topic brings the AI-assisted coding skills together, starting with prompting, the foundation of quality results.</a:t>
            </a:r>
          </a:p>
          <a:p/>
          <a:p>
            <a:r>
              <a:t>Few-Shot: provide example snippets showing the desired pattern, then ask Copilot to generate similar code for new scenarios.</a:t>
            </a:r>
          </a:p>
          <a:p/>
          <a:p>
            <a:r>
              <a:t>Chain-of-Thought: break complex problems into sequential steps and explain your reasoning for more logical solutions.</a:t>
            </a:r>
          </a:p>
          <a:p/>
          <a:p>
            <a:r>
              <a:t>Context-Based: include schema definitions, configuration files or existing code to give Copilot a complete picture.</a:t>
            </a:r>
          </a:p>
          <a:p/>
          <a:p>
            <a:r>
              <a:t>Instruction-Based: clear, structured instructions with specifications give consistent, predictable results.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711715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Beyond the prompt text, two chat features steer a request: slash commands route intent, and context variables ground it in the workspace.</a:t>
            </a:r>
          </a:p>
          <a:p/>
          <a:p>
            <a:r>
              <a:t>Slash commands: /explain, /fix, /tests and /optimize route intent directly to the right capability without a full natural-language prompt. They combine well with a code selection.</a:t>
            </a:r>
          </a:p>
          <a:p/>
          <a:p>
            <a:r>
              <a:t>Workspace code: #file references a specific file, #selection the selected code, and #codebase gives codebase-wide context for architecture and patterns.</a:t>
            </a:r>
          </a:p>
          <a:p/>
          <a:p>
            <a:r>
              <a:t>Terminal: #terminalLastCommand references the last command run, and @terminal includes output or errors from the active terminal. The demo runs tasks-api with dotnet run, then sends fix #terminalLastCommand.</a:t>
            </a:r>
          </a:p>
          <a:p/>
          <a:p>
            <a:r>
              <a:t>URLs: #fetch fetches and includes content from URLs or external sources.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76919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#fetch demo shows a context variable scaffolding a whole project from an article.</a:t>
            </a:r>
          </a:p>
          <a:p/>
          <a:p>
            <a:r>
              <a:t>Fetch the docs: #fetch retrieves the Microsoft Agent Framework quick start from Microsoft Learn, so the code is written against current documentation.</a:t>
            </a:r>
          </a:p>
          <a:p/>
          <a:p>
            <a:r>
              <a:t>One prompt: it asks for a Python 3.12 hello world plus requirements.txt, an activated .venv, a Python .gitignore and a .env with PROJECT_ENDPOINT and MODEL_DEPLOYMENT.</a:t>
            </a:r>
          </a:p>
          <a:p/>
          <a:p>
            <a:r>
              <a:t>Run until fixed: the prompt tells the model to implement the sample and run it until all errors are fixed. That instruction is the small step into Agent Mode.</a:t>
            </a:r>
          </a:p>
          <a:p/>
          <a:p>
            <a:r>
              <a:t>Beginner readme: the result includes short instructions for running the app and for finding the .env values in Microsoft Foundry. The solution is in the maf-starter-solution folder.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065671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the module pivots to Agent Mode, where a local agent works inside your VS Code session instead of suggesting code.</a:t>
            </a:r>
          </a:p>
          <a:p/>
          <a:p>
            <a:r>
              <a:t>Integration: the agent has direct access to workspace files, the terminal, editor state and npm scripts, with real-time feedback.</a:t>
            </a:r>
          </a:p>
          <a:p/>
          <a:p>
            <a:r>
              <a:t>Synchronous and blocking: it runs a single sequential task at a time. That makes it best for focused tasks, debugging and rapid iteration, but it blocks the editor and cannot parallelize.</a:t>
            </a:r>
          </a:p>
          <a:p/>
          <a:p>
            <a:r>
              <a:t>Local auth: it uses your Azure CLI credentials, Git tokens, SSH keys and environment variables, and reaches online resources through local tools such as Microsoft Learn MCP.</a:t>
            </a:r>
          </a:p>
          <a:p/>
          <a:p>
            <a:r>
              <a:t>Steering and queueing: correcting or stacking up messages while the agent runs is covered in module 3, in the Local Agents topic.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218852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demos put the local agent through real, multi-step work, each driven by a single prompt.</a:t>
            </a:r>
          </a:p>
          <a:p/>
          <a:p>
            <a:r>
              <a:t>Scaffold: the agent runs dotnet new webapi, removes the weather sample, adds an InstructionsController and Scalar UI, then checks the running API in the browser with Chrome DevTools MCP.</a:t>
            </a:r>
          </a:p>
          <a:p/>
          <a:p>
            <a:r>
              <a:t>Fix: starting from #terminalLastCommand, the agent moves a C# console app to keyless authentication with the Project Endpoint and DefaultAzureCredential.</a:t>
            </a:r>
          </a:p>
          <a:p/>
          <a:p>
            <a:r>
              <a:t>Update: the agent pins the agentfw_ agents to the latest Microsoft Agent Framework libraries, updates pyproject.toml and requirements.txt, and writes upgrade-report.md.</a:t>
            </a:r>
          </a:p>
          <a:p/>
          <a:p>
            <a:r>
              <a:t>Learn MCP and run until clean: each prompt sends the agent to Microsoft Learn MCP and to build, run and fix. Read one aloud: it is a task list, not a question.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1192144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agent writing code, the next topic is how that code gets reviewed: Copilot assists on both sides of a pull request.</a:t>
            </a:r>
          </a:p>
          <a:p/>
          <a:p>
            <a:r>
              <a:t>PR description: Copilot analyzes the diff and commit history to suggest a clear, well-structured description.</a:t>
            </a:r>
          </a:p>
          <a:p/>
          <a:p>
            <a:r>
              <a:t>What, why and impact: the description summarizes what changed, why, and the impact, which saves documentation time and keeps descriptions consistent across the team.</a:t>
            </a:r>
          </a:p>
          <a:p/>
          <a:p>
            <a:r>
              <a:t>Review feedback: during review Copilot identifies potential issues and suggests improvements, so reviewers catch bugs and inconsistencies more efficiently.</a:t>
            </a:r>
          </a:p>
          <a:p/>
          <a:p>
            <a:r>
              <a:t>Before merge: it explains complex logic and recommends best practices, so authors understand the suggestions and improve code quality before merge.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6665575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the settings scopes, this slide covers keeping credentials out, and the key consideration is that Copilot only sees what you show it.</a:t>
            </a:r>
          </a:p>
          <a:p/>
          <a:p>
            <a:r>
              <a:t>What Copilot sees: open editor files, workspace content, terminal output shown in VS Code and whatever you attach to a chat. Keeping credentials out of that view is your job.</a:t>
            </a:r>
          </a:p>
          <a:p/>
          <a:p>
            <a:r>
              <a:t>.gitignore: store secrets in .env files and add them to .gitignore, so they are never tracked or committed.</a:t>
            </a:r>
          </a:p>
          <a:p/>
          <a:p>
            <a:r>
              <a:t>File patterns: github.copilot.enable set to false for .env, *.secrets and *.private turns Copilot off for those files in the editor.</a:t>
            </a:r>
          </a:p>
          <a:p/>
          <a:p>
            <a:r>
              <a:t>Placeholders and trust: custom instructions require placeholder values instead of real keys, and workspace trust limits extension functionality in untrusted projects.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868331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topic is the terminal, because agents interact with the shell differently from humans.</a:t>
            </a:r>
          </a:p>
          <a:p/>
          <a:p>
            <a:r>
              <a:t>VSCODE_AGENT: when Copilot runs a command on your behalf, it sets VSCODE_AGENT in that command's environment.</a:t>
            </a:r>
          </a:p>
          <a:p/>
          <a:p>
            <a:r>
              <a:t>Machine output: a CLI that checks the variable can tell it is talking to an agent and emit stable, parseable text such as JSON or plain lines.</a:t>
            </a:r>
          </a:p>
          <a:p/>
          <a:p>
            <a:r>
              <a:t>Noise: progress spinners, ANSI color codes and interactive prompts can push the model toward wrong conclusions about whether a command succeeded. The payoff is fewer parsing mistakes.</a:t>
            </a:r>
          </a:p>
          <a:p/>
          <a:p>
            <a:r>
              <a:t>Your own terminal: run echo $VSCODE_AGENT yourself and it is empty, because you are a human, not an agent.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773407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second terminal feature handles commands that produce far more output than a model needs, such as a full test run, a clean build or a large install.</a:t>
            </a:r>
          </a:p>
          <a:p/>
          <a:p>
            <a:r>
              <a:t>Before the context window: compression condenses verbose output before it enters the context window, so the model spends fewer tokens on boilerplate.</a:t>
            </a:r>
          </a:p>
          <a:p/>
          <a:p>
            <a:r>
              <a:t>What stays: failures, error messages, warnings and summary lines survive, across test runners, build tools, linters, Docker and package managers.</a:t>
            </a:r>
          </a:p>
          <a:p/>
          <a:p>
            <a:r>
              <a:t>What goes: progress bars, repeated success lines and download chatter are collapsed.</a:t>
            </a:r>
          </a:p>
          <a:p/>
          <a:p>
            <a:r>
              <a:t>No flags: you do not add flags or redirect output. The model sees a tight summary and reaches the real signal faster.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256315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the habits the module was built around, from the first suggestion to the first assigned task.</a:t>
            </a:r>
          </a:p>
          <a:p/>
          <a:p>
            <a:r>
              <a:t>Pick the model: choose by context size, reasoning effort and cost, not by brand name.</a:t>
            </a:r>
          </a:p>
          <a:p/>
          <a:p>
            <a:r>
              <a:t>Shape the context: keep the prefix stable so caching pays off, and keep the context focused on what the task needs.</a:t>
            </a:r>
          </a:p>
          <a:p/>
          <a:p>
            <a:r>
              <a:t>Ground the request: slash commands route intent, and context variables point at the code, docs or terminal output that matter.</a:t>
            </a:r>
          </a:p>
          <a:p/>
          <a:p>
            <a:r>
              <a:t>Hand off and guard: give multi-step work to a local agent in Agent Mode, and keep secrets out with .gitignore, file patterns and custom instructions. Ask the room which task from their own week they would hand to Agent Mode first.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5603823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266653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536445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jpeg"/><Relationship Id="rId4" Type="http://schemas.openxmlformats.org/officeDocument/2006/relationships/image" Target="../media/image4.png"/><Relationship Id="rId5" Type="http://schemas.openxmlformats.org/officeDocument/2006/relationships/image" Target="../media/image2.emf"/><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4.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5.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7.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3.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4.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b="0" sz="1050">
                <a:solidFill>
                  <a:schemeClr val="tx1"/>
                </a:solidFill>
                <a:latin typeface="IBM Plex Sans"/>
              </a:rPr>
              <a:t>www.flane.de</a:t>
            </a:r>
            <a:r>
              <a:rPr lang="en-GB" b="0" sz="1050">
                <a:solidFill>
                  <a:schemeClr val="tx1"/>
                </a:solidFill>
                <a:latin typeface="IBM Plex Sans"/>
              </a:rPr>
              <a:t> | </a:t>
            </a:r>
            <a:r>
              <a:rPr lang="en-GB" b="0" sz="1050">
                <a:solidFill>
                  <a:schemeClr val="tx1"/>
                </a:solidFill>
                <a:latin typeface="IBM Plex Sans"/>
              </a:rPr>
              <a:t>© 2026 Fast Lane Institute for Knowledge Transfer GmbH</a:t>
            </a:r>
            <a:endParaRPr lang="en-GB" b="0" sz="105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19813655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For Austrian SMEs, software teams and enterprise programmes.</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20092566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1-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1</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Fundamentals &amp; Agent Mode Basics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GitHub Copilot Essentials</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Agentic Software Engineering using GitHub Copilot</a:t>
            </a:r>
          </a:p>
        </p:txBody>
      </p:sp>
    </p:spTree>
    <p:extLst>
      <p:ext uri="{BB962C8B-B14F-4D97-AF65-F5344CB8AC3E}">
        <p14:creationId xmlns:p14="http://schemas.microsoft.com/office/powerpoint/2010/main" val="338904708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box"/>
          <p:cNvSpPr/>
          <p:nvPr/>
        </p:nvSpPr>
        <p:spPr>
          <a:xfrm>
            <a:off x="812767"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1042767"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Getting Started &amp; Configuring Copilot</a:t>
            </a:r>
          </a:p>
          <a:p>
            <a:pPr>
              <a:lnSpc>
                <a:spcPct val="95000"/>
              </a:lnSpc>
              <a:spcBef>
                <a:spcPts val="600"/>
              </a:spcBef>
            </a:pPr>
            <a:r>
              <a:rPr sz="1200" b="0">
                <a:solidFill>
                  <a:srgbClr val="595F67"/>
                </a:solidFill>
                <a:latin typeface="Poppins"/>
              </a:rPr>
              <a:t>Modes, settings and keeping secrets out</a:t>
            </a:r>
          </a:p>
        </p:txBody>
      </p:sp>
      <p:sp>
        <p:nvSpPr>
          <p:cNvPr id="6" name="gd-topics-box"/>
          <p:cNvSpPr/>
          <p:nvPr/>
        </p:nvSpPr>
        <p:spPr>
          <a:xfrm>
            <a:off x="3511533"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3511533"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text"/>
          <p:cNvSpPr txBox="1"/>
          <p:nvPr/>
        </p:nvSpPr>
        <p:spPr>
          <a:xfrm>
            <a:off x="3741533"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3741533"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Selecting Models</a:t>
            </a:r>
          </a:p>
          <a:p>
            <a:pPr>
              <a:lnSpc>
                <a:spcPct val="95000"/>
              </a:lnSpc>
              <a:spcBef>
                <a:spcPts val="600"/>
              </a:spcBef>
            </a:pPr>
            <a:r>
              <a:rPr sz="1200" b="0">
                <a:solidFill>
                  <a:srgbClr val="595F67"/>
                </a:solidFill>
                <a:latin typeface="Poppins"/>
              </a:rPr>
              <a:t>Context size, cost and task fit</a:t>
            </a:r>
          </a:p>
        </p:txBody>
      </p:sp>
      <p:sp>
        <p:nvSpPr>
          <p:cNvPr id="10" name="gd-topics-box"/>
          <p:cNvSpPr/>
          <p:nvPr/>
        </p:nvSpPr>
        <p:spPr>
          <a:xfrm>
            <a:off x="6210299"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6210299"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text"/>
          <p:cNvSpPr txBox="1"/>
          <p:nvPr/>
        </p:nvSpPr>
        <p:spPr>
          <a:xfrm>
            <a:off x="6440299"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6440299"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Shaping the Context Window</a:t>
            </a:r>
          </a:p>
          <a:p>
            <a:pPr>
              <a:lnSpc>
                <a:spcPct val="95000"/>
              </a:lnSpc>
              <a:spcBef>
                <a:spcPts val="600"/>
              </a:spcBef>
            </a:pPr>
            <a:r>
              <a:rPr sz="1200" b="0">
                <a:solidFill>
                  <a:srgbClr val="595F67"/>
                </a:solidFill>
                <a:latin typeface="Poppins"/>
              </a:rPr>
              <a:t>Prompt caching and deliberate context</a:t>
            </a:r>
          </a:p>
        </p:txBody>
      </p:sp>
      <p:sp>
        <p:nvSpPr>
          <p:cNvPr id="14" name="gd-topics-box"/>
          <p:cNvSpPr/>
          <p:nvPr/>
        </p:nvSpPr>
        <p:spPr>
          <a:xfrm>
            <a:off x="8909065"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d-topics-box"/>
          <p:cNvSpPr/>
          <p:nvPr/>
        </p:nvSpPr>
        <p:spPr>
          <a:xfrm>
            <a:off x="8909065"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d-topics-text"/>
          <p:cNvSpPr txBox="1"/>
          <p:nvPr/>
        </p:nvSpPr>
        <p:spPr>
          <a:xfrm>
            <a:off x="9139065"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9139065"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AI-Assisted Coding Essentials</a:t>
            </a:r>
          </a:p>
          <a:p>
            <a:pPr>
              <a:lnSpc>
                <a:spcPct val="95000"/>
              </a:lnSpc>
              <a:spcBef>
                <a:spcPts val="600"/>
              </a:spcBef>
            </a:pPr>
            <a:r>
              <a:rPr sz="1200" b="0">
                <a:solidFill>
                  <a:srgbClr val="595F67"/>
                </a:solidFill>
                <a:latin typeface="Poppins"/>
              </a:rPr>
              <a:t>Prompting, inline suggestions and slash commands</a:t>
            </a:r>
          </a:p>
        </p:txBody>
      </p:sp>
      <p:sp>
        <p:nvSpPr>
          <p:cNvPr id="18" name="gd-topics-box"/>
          <p:cNvSpPr/>
          <p:nvPr/>
        </p:nvSpPr>
        <p:spPr>
          <a:xfrm>
            <a:off x="2162150"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d-topics-box"/>
          <p:cNvSpPr/>
          <p:nvPr/>
        </p:nvSpPr>
        <p:spPr>
          <a:xfrm>
            <a:off x="2162150"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d-topics-text"/>
          <p:cNvSpPr txBox="1"/>
          <p:nvPr/>
        </p:nvSpPr>
        <p:spPr>
          <a:xfrm>
            <a:off x="2392150"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2392150"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Agent Mode Basics</a:t>
            </a:r>
          </a:p>
          <a:p>
            <a:pPr>
              <a:lnSpc>
                <a:spcPct val="95000"/>
              </a:lnSpc>
              <a:spcBef>
                <a:spcPts val="600"/>
              </a:spcBef>
            </a:pPr>
            <a:r>
              <a:rPr sz="1200" b="0">
                <a:solidFill>
                  <a:srgbClr val="595F67"/>
                </a:solidFill>
                <a:latin typeface="Poppins"/>
              </a:rPr>
              <a:t>Local agents for multi-step work</a:t>
            </a:r>
          </a:p>
        </p:txBody>
      </p:sp>
      <p:sp>
        <p:nvSpPr>
          <p:cNvPr id="22" name="gd-topics-box"/>
          <p:cNvSpPr/>
          <p:nvPr/>
        </p:nvSpPr>
        <p:spPr>
          <a:xfrm>
            <a:off x="4860916"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d-topics-box"/>
          <p:cNvSpPr/>
          <p:nvPr/>
        </p:nvSpPr>
        <p:spPr>
          <a:xfrm>
            <a:off x="4860916"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d-topics-text"/>
          <p:cNvSpPr txBox="1"/>
          <p:nvPr/>
        </p:nvSpPr>
        <p:spPr>
          <a:xfrm>
            <a:off x="5090916"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5090916"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Pull Requests &amp; Code Reviews</a:t>
            </a:r>
          </a:p>
          <a:p>
            <a:pPr>
              <a:lnSpc>
                <a:spcPct val="95000"/>
              </a:lnSpc>
              <a:spcBef>
                <a:spcPts val="600"/>
              </a:spcBef>
            </a:pPr>
            <a:r>
              <a:rPr sz="1200" b="0">
                <a:solidFill>
                  <a:srgbClr val="595F67"/>
                </a:solidFill>
                <a:latin typeface="Poppins"/>
              </a:rPr>
              <a:t>PR descriptions and review feedback</a:t>
            </a:r>
          </a:p>
        </p:txBody>
      </p:sp>
      <p:sp>
        <p:nvSpPr>
          <p:cNvPr id="26" name="gd-topics-box"/>
          <p:cNvSpPr/>
          <p:nvPr/>
        </p:nvSpPr>
        <p:spPr>
          <a:xfrm>
            <a:off x="7559682"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d-topics-box"/>
          <p:cNvSpPr/>
          <p:nvPr/>
        </p:nvSpPr>
        <p:spPr>
          <a:xfrm>
            <a:off x="755968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d-topics-text"/>
          <p:cNvSpPr txBox="1"/>
          <p:nvPr/>
        </p:nvSpPr>
        <p:spPr>
          <a:xfrm>
            <a:off x="7789682"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07</a:t>
            </a:r>
          </a:p>
        </p:txBody>
      </p:sp>
      <p:sp>
        <p:nvSpPr>
          <p:cNvPr id="29" name="gd-topics-text"/>
          <p:cNvSpPr txBox="1"/>
          <p:nvPr/>
        </p:nvSpPr>
        <p:spPr>
          <a:xfrm>
            <a:off x="7789682"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Working in the Terminal</a:t>
            </a:r>
          </a:p>
          <a:p>
            <a:pPr>
              <a:lnSpc>
                <a:spcPct val="95000"/>
              </a:lnSpc>
              <a:spcBef>
                <a:spcPts val="600"/>
              </a:spcBef>
            </a:pPr>
            <a:r>
              <a:rPr sz="1200" b="0">
                <a:solidFill>
                  <a:srgbClr val="595F67"/>
                </a:solidFill>
                <a:latin typeface="Poppins"/>
              </a:rPr>
              <a:t>Agent-aware output and compression</a:t>
            </a:r>
          </a:p>
        </p:txBody>
      </p:sp>
      <p:sp>
        <p:nvSpPr>
          <p:cNvPr id="3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915815"/>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Fundamentals &amp; Agent Mode Basics</a:t>
            </a:r>
            <a:endParaRPr lang="en-US" sz="3700" dirty="0"/>
          </a:p>
        </p:txBody>
      </p:sp>
      <p:sp>
        <p:nvSpPr>
          <p:cNvPr id="4" name="Text 1"/>
          <p:cNvSpPr/>
          <p:nvPr/>
        </p:nvSpPr>
        <p:spPr>
          <a:xfrm>
            <a:off x="661475" y="3172718"/>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GitHub Copilot Essentials</a:t>
            </a:r>
            <a:endParaRPr lang="en-US" sz="1850" dirty="0"/>
          </a:p>
        </p:txBody>
      </p:sp>
      <p:sp>
        <p:nvSpPr>
          <p:cNvPr id="5" name="Text 2"/>
          <p:cNvSpPr/>
          <p:nvPr/>
        </p:nvSpPr>
        <p:spPr>
          <a:xfrm>
            <a:off x="661475" y="3751461"/>
            <a:ext cx="6296860" cy="1190625"/>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Essentials</a:t>
            </a:r>
            <a:r>
              <a:rPr lang="en-US" sz="1450" dirty="0">
                <a:solidFill>
                  <a:srgbClr val="1B365D"/>
                </a:solidFill>
                <a:latin typeface="Poppins" pitchFamily="34" charset="0"/>
                <a:ea typeface="Poppins" pitchFamily="34" charset="-122"/>
                <a:cs typeface="Poppins" pitchFamily="34" charset="-120"/>
              </a:rPr>
              <a:t>: inline suggestions, chat, prompting, context engineering and model selection</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Agent Mode</a:t>
            </a:r>
            <a:r>
              <a:rPr lang="en-US" sz="1450" dirty="0">
                <a:solidFill>
                  <a:srgbClr val="1B365D"/>
                </a:solidFill>
                <a:latin typeface="Poppins" pitchFamily="34" charset="0"/>
                <a:ea typeface="Poppins" pitchFamily="34" charset="-122"/>
                <a:cs typeface="Poppins" pitchFamily="34" charset="-120"/>
              </a:rPr>
              <a:t>: a local agent driving real, multi-step work</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Guardrails</a:t>
            </a:r>
            <a:r>
              <a:rPr lang="en-US" sz="1450" dirty="0">
                <a:solidFill>
                  <a:srgbClr val="1B365D"/>
                </a:solidFill>
                <a:latin typeface="Poppins" pitchFamily="34" charset="0"/>
                <a:ea typeface="Poppins" pitchFamily="34" charset="-122"/>
                <a:cs typeface="Poppins" pitchFamily="34" charset="-120"/>
              </a:rPr>
              <a:t>: pull requests, secrets kept out of context and a terminal built for agents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Overview</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The path through the fundamentals</a:t>
            </a:r>
            <a:endParaRPr lang="en-US" sz="1850" dirty="0"/>
          </a:p>
        </p:txBody>
      </p:sp>
      <p:sp>
        <p:nvSpPr>
          <p:cNvPr id="4" name="Text 2"/>
          <p:cNvSpPr/>
          <p:nvPr/>
        </p:nvSpPr>
        <p:spPr>
          <a:xfrm>
            <a:off x="661475" y="2162969"/>
            <a:ext cx="3844134"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Start with Copilot's two modes and settings, model selection and the context window</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Prompting, inline suggestions, slash commands and context variables in one place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Pivot to </a:t>
            </a:r>
            <a:r>
              <a:rPr lang="en-US" sz="1450" b="1" dirty="0">
                <a:solidFill>
                  <a:srgbClr val="1B365D"/>
                </a:solidFill>
                <a:latin typeface="Poppins" pitchFamily="34" charset="0"/>
                <a:ea typeface="Poppins" pitchFamily="34" charset="-122"/>
                <a:cs typeface="Poppins" pitchFamily="34" charset="-120"/>
              </a:rPr>
              <a:t>Agent Mode</a:t>
            </a:r>
            <a:r>
              <a:rPr lang="en-US" sz="1450" dirty="0">
                <a:solidFill>
                  <a:srgbClr val="1B365D"/>
                </a:solidFill>
                <a:latin typeface="Poppins" pitchFamily="34" charset="0"/>
                <a:ea typeface="Poppins" pitchFamily="34" charset="-122"/>
                <a:cs typeface="Poppins" pitchFamily="34" charset="-120"/>
              </a:rPr>
              <a:t>: scaffold a project, fix an error, run an update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Finish with pull requests and the terminal the agent works in</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3200" b="1">
                <a:solidFill>
                  <a:srgbClr val="2D3436"/>
                </a:solidFill>
                <a:latin typeface="Montserrat"/>
              </a:rPr>
              <a:t>Getting Started &amp; Configuring Copilot</a:t>
            </a:r>
          </a:p>
          <a:p>
            <a:pPr>
              <a:lnSpc>
                <a:spcPct val="95000"/>
              </a:lnSpc>
              <a:spcBef>
                <a:spcPts val="1400"/>
              </a:spcBef>
            </a:pPr>
            <a:r>
              <a:rPr sz="2000" b="0">
                <a:solidFill>
                  <a:srgbClr val="595F67"/>
                </a:solidFill>
                <a:latin typeface="Poppins"/>
              </a:rPr>
              <a:t>Modes, settings and keeping secrets out</a:t>
            </a:r>
          </a:p>
        </p:txBody>
      </p:sp>
      <p:sp>
        <p:nvSpPr>
          <p:cNvPr id="5" name="gd-topics-box"/>
          <p:cNvSpPr/>
          <p:nvPr/>
        </p:nvSpPr>
        <p:spPr>
          <a:xfrm>
            <a:off x="6100000"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600" dirty="0" b="1">
                <a:solidFill>
                  <a:srgbClr val="0D0D0D"/>
                </a:solidFill>
                <a:latin typeface="Montserrat" pitchFamily="34" charset="0"/>
                <a:ea typeface="Montserrat" pitchFamily="34" charset="-122"/>
                <a:cs typeface="Montserrat" pitchFamily="34" charset="-120"/>
              </a:rPr>
              <a:t>AI-assisted coding and agentic engineering</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AI Assisted Coding and Agentic Software Engineering</a:t>
            </a:r>
            <a:endParaRPr lang="en-US" sz="1850" dirty="0"/>
          </a:p>
        </p:txBody>
      </p:sp>
      <p:sp>
        <p:nvSpPr>
          <p:cNvPr id="4" name="Text 2"/>
          <p:cNvSpPr/>
          <p:nvPr/>
        </p:nvSpPr>
        <p:spPr>
          <a:xfrm>
            <a:off x="661475" y="2162969"/>
            <a:ext cx="3844134"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AI Assisted Coding</a:t>
            </a:r>
            <a:r>
              <a:rPr lang="en-US" sz="1450" dirty="0">
                <a:solidFill>
                  <a:srgbClr val="1B365D"/>
                </a:solidFill>
                <a:latin typeface="Poppins" pitchFamily="34" charset="0"/>
                <a:ea typeface="Poppins" pitchFamily="34" charset="-122"/>
                <a:cs typeface="Poppins" pitchFamily="34" charset="-120"/>
              </a:rPr>
              <a:t>: real-time completions and suggestions as you type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You accept or modify the highlighted snippet directly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Agentic Software Engineering</a:t>
            </a:r>
            <a:r>
              <a:rPr lang="en-US" sz="1450" dirty="0">
                <a:solidFill>
                  <a:srgbClr val="1B365D"/>
                </a:solidFill>
                <a:latin typeface="Poppins" pitchFamily="34" charset="0"/>
                <a:ea typeface="Poppins" pitchFamily="34" charset="-122"/>
                <a:cs typeface="Poppins" pitchFamily="34" charset="-120"/>
              </a:rPr>
              <a:t>: specialized agents work autonomously toward an assigned goal</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Agents orchestrate multiple tools and decisions to deliver complete solutions</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Copilot settings scopes</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User, workspace and dev container</a:t>
            </a:r>
            <a:endParaRPr lang="en-US" sz="1850" dirty="0"/>
          </a:p>
        </p:txBody>
      </p:sp>
      <p:sp>
        <p:nvSpPr>
          <p:cNvPr id="4" name="Text 2"/>
          <p:cNvSpPr/>
          <p:nvPr/>
        </p:nvSpPr>
        <p:spPr>
          <a:xfrm>
            <a:off x="661475" y="2162969"/>
            <a:ext cx="3844134" cy="3399036"/>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User settings</a:t>
            </a:r>
            <a:r>
              <a:rPr lang="en-US" sz="1450" dirty="0">
                <a:solidFill>
                  <a:srgbClr val="1B365D"/>
                </a:solidFill>
                <a:latin typeface="Poppins" pitchFamily="34" charset="0"/>
                <a:ea typeface="Poppins" pitchFamily="34" charset="-122"/>
                <a:cs typeface="Poppins" pitchFamily="34" charset="-120"/>
              </a:rPr>
              <a:t>: personal preferences across all workspaces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Workspace</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.vscode/settings.json</a:t>
            </a:r>
            <a:r>
              <a:rPr lang="en-US" sz="1450" dirty="0">
                <a:solidFill>
                  <a:srgbClr val="1B365D"/>
                </a:solidFill>
                <a:latin typeface="Poppins" pitchFamily="34" charset="0"/>
                <a:ea typeface="Poppins" pitchFamily="34" charset="-122"/>
                <a:cs typeface="Poppins" pitchFamily="34" charset="-120"/>
              </a:rPr>
              <a:t>: project overrides for team consistency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Dev Container</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.devcontainer/devcontainer.json</a:t>
            </a:r>
            <a:r>
              <a:rPr lang="en-US" sz="1450" dirty="0">
                <a:solidFill>
                  <a:srgbClr val="1B365D"/>
                </a:solidFill>
                <a:latin typeface="Poppins" pitchFamily="34" charset="0"/>
                <a:ea typeface="Poppins" pitchFamily="34" charset="-122"/>
                <a:cs typeface="Poppins" pitchFamily="34" charset="-120"/>
              </a:rPr>
              <a:t>: standardized environments with extensions and tools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github.copilot.enable</a:t>
            </a:r>
            <a:r>
              <a:rPr lang="en-US" sz="1450" dirty="0">
                <a:solidFill>
                  <a:srgbClr val="1B365D"/>
                </a:solidFill>
                <a:latin typeface="Poppins" pitchFamily="34" charset="0"/>
                <a:ea typeface="Poppins" pitchFamily="34" charset="-122"/>
                <a:cs typeface="Poppins" pitchFamily="34" charset="-120"/>
              </a:rPr>
              <a:t> switches Copilot per language; </a:t>
            </a:r>
            <a:r>
              <a:rPr lang="en-US" sz="1450" dirty="0">
                <a:solidFill>
                  <a:srgbClr val="1B365D"/>
                </a:solidFill>
                <a:highlight>
                  <a:srgbClr val="F2F2F2"/>
                </a:highlight>
                <a:latin typeface="Consolas" pitchFamily="34" charset="0"/>
                <a:ea typeface="Consolas" pitchFamily="34" charset="-122"/>
                <a:cs typeface="Consolas" pitchFamily="34" charset="-120"/>
              </a:rPr>
              <a:t>editor.inlineSuggest.enabled</a:t>
            </a:r>
            <a:r>
              <a:rPr lang="en-US" sz="1450" dirty="0">
                <a:solidFill>
                  <a:srgbClr val="1B365D"/>
                </a:solidFill>
                <a:latin typeface="Poppins" pitchFamily="34" charset="0"/>
                <a:ea typeface="Poppins" pitchFamily="34" charset="-122"/>
                <a:cs typeface="Poppins" pitchFamily="34" charset="-120"/>
              </a:rPr>
              <a:t> turns on inline suggestions</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Keeping credentials out of context</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Five controls that keep credentials out of context</a:t>
            </a:r>
            <a:endParaRPr lang="en-US" sz="1850" dirty="0"/>
          </a:p>
        </p:txBody>
      </p:sp>
      <p:sp>
        <p:nvSpPr>
          <p:cNvPr id="4" name="Text 2"/>
          <p:cNvSpPr/>
          <p:nvPr/>
        </p:nvSpPr>
        <p:spPr>
          <a:xfrm>
            <a:off x="661475" y="2226667"/>
            <a:ext cx="4070744" cy="23342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sees open files, workspace content, terminal output and attachments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keeps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files out of the repository</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github.copilot.enable</a:t>
            </a:r>
            <a:r>
              <a:rPr lang="en-US" sz="1450" dirty="0">
                <a:solidFill>
                  <a:srgbClr val="1B365D"/>
                </a:solidFill>
                <a:latin typeface="Poppins" pitchFamily="34" charset="0"/>
                <a:ea typeface="Poppins" pitchFamily="34" charset="-122"/>
                <a:cs typeface="Poppins" pitchFamily="34" charset="-120"/>
              </a:rPr>
              <a:t> turns Copilot off for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*.secrets</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*.private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Custom instructions require placeholders; workspace trust limits untrusted projects</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46519824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Selecting Models</a:t>
            </a:r>
          </a:p>
          <a:p>
            <a:pPr>
              <a:lnSpc>
                <a:spcPct val="95000"/>
              </a:lnSpc>
              <a:spcBef>
                <a:spcPts val="1400"/>
              </a:spcBef>
            </a:pPr>
            <a:r>
              <a:rPr sz="2000" b="0">
                <a:solidFill>
                  <a:srgbClr val="595F67"/>
                </a:solidFill>
                <a:latin typeface="Poppins"/>
              </a:rPr>
              <a:t>Context size, cost and task fit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Model providers in Copilot</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Four provider types behind one model picker</a:t>
            </a:r>
            <a:endParaRPr lang="en-US" sz="1850" dirty="0"/>
          </a:p>
        </p:txBody>
      </p:sp>
      <p:sp>
        <p:nvSpPr>
          <p:cNvPr id="4" name="Text 2"/>
          <p:cNvSpPr/>
          <p:nvPr/>
        </p:nvSpPr>
        <p:spPr>
          <a:xfrm>
            <a:off x="661475" y="2162969"/>
            <a:ext cx="3844134"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Built-in</a:t>
            </a:r>
            <a:r>
              <a:rPr lang="en-US" sz="1450" dirty="0">
                <a:solidFill>
                  <a:srgbClr val="1B365D"/>
                </a:solidFill>
                <a:latin typeface="Poppins" pitchFamily="34" charset="0"/>
                <a:ea typeface="Poppins" pitchFamily="34" charset="-122"/>
                <a:cs typeface="Poppins" pitchFamily="34" charset="-120"/>
              </a:rPr>
              <a:t> models need only a signed-in Copilot license</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BYOK</a:t>
            </a:r>
            <a:r>
              <a:rPr lang="en-US" sz="1450" dirty="0">
                <a:solidFill>
                  <a:srgbClr val="1B365D"/>
                </a:solidFill>
                <a:latin typeface="Poppins" pitchFamily="34" charset="0"/>
                <a:ea typeface="Poppins" pitchFamily="34" charset="-122"/>
                <a:cs typeface="Poppins" pitchFamily="34" charset="-120"/>
              </a:rPr>
              <a:t>: your own API key, for air-gapped or offline work and direct billing</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Custom Endpoint</a:t>
            </a:r>
            <a:r>
              <a:rPr lang="en-US" sz="1450" dirty="0">
                <a:solidFill>
                  <a:srgbClr val="1B365D"/>
                </a:solidFill>
                <a:latin typeface="Poppins" pitchFamily="34" charset="0"/>
                <a:ea typeface="Poppins" pitchFamily="34" charset="-122"/>
                <a:cs typeface="Poppins" pitchFamily="34" charset="-120"/>
              </a:rPr>
              <a:t>: your URL and request shape, for models behind your own gateway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Marketplace providers</a:t>
            </a:r>
            <a:r>
              <a:rPr lang="en-US" sz="1450" dirty="0">
                <a:solidFill>
                  <a:srgbClr val="1B365D"/>
                </a:solidFill>
                <a:latin typeface="Poppins" pitchFamily="34" charset="0"/>
                <a:ea typeface="Poppins" pitchFamily="34" charset="-122"/>
                <a:cs typeface="Poppins" pitchFamily="34" charset="-120"/>
              </a:rPr>
              <a:t> install like any other extension</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693936"/>
            <a:ext cx="6927478" cy="1122363"/>
          </a:xfrm>
          <a:prstGeom prst="rect">
            <a:avLst/>
          </a:prstGeom>
          <a:noFill/>
          <a:ln/>
        </p:spPr>
        <p:txBody>
          <a:bodyPr wrap="square" lIns="0" tIns="0" rIns="0" bIns="0" rtlCol="0" anchor="t">
            <a:no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The model picker</a:t>
            </a:r>
            <a:endParaRPr lang="en-US" sz="3150" dirty="0"/>
          </a:p>
        </p:txBody>
      </p:sp>
      <p:sp>
        <p:nvSpPr>
          <p:cNvPr id="3" name="Text 1"/>
          <p:cNvSpPr/>
          <p:nvPr/>
        </p:nvSpPr>
        <p:spPr>
          <a:xfrm>
            <a:off x="661475" y="1966299"/>
            <a:ext cx="6927478" cy="300000"/>
          </a:xfrm>
          <a:prstGeom prst="rect">
            <a:avLst/>
          </a:prstGeom>
          <a:noFill/>
          <a:ln/>
        </p:spPr>
        <p:txBody>
          <a:bodyPr wrap="none" lIns="0" tIns="0" rIns="0" bIns="0" rtlCol="0" anchor="t">
            <a:no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Model selection becomes a spending decision</a:t>
            </a:r>
            <a:endParaRPr lang="en-US" sz="1550" dirty="0"/>
          </a:p>
        </p:txBody>
      </p:sp>
      <p:sp>
        <p:nvSpPr>
          <p:cNvPr id="4" name="Text 2"/>
          <p:cNvSpPr/>
          <p:nvPr/>
        </p:nvSpPr>
        <p:spPr>
          <a:xfrm>
            <a:off x="661475" y="2416299"/>
            <a:ext cx="6927478" cy="3200000"/>
          </a:xfrm>
          <a:prstGeom prst="rect">
            <a:avLst/>
          </a:prstGeom>
          <a:noFill/>
          <a:ln/>
        </p:spPr>
        <p:txBody>
          <a:bodyPr wrap="square" lIns="0" tIns="0" rIns="0" bIns="0" rtlCol="0" anchor="t">
            <a:noAutofit/>
          </a:bodyPr>
          <a:lstStyle/>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Supported Anthropic and OpenAI models offer </a:t>
            </a:r>
            <a:r>
              <a:rPr lang="en-US" sz="1450" b="1" dirty="0">
                <a:solidFill>
                  <a:srgbClr val="1B365D"/>
                </a:solidFill>
                <a:latin typeface="Poppins" pitchFamily="34" charset="0"/>
                <a:ea typeface="Poppins" pitchFamily="34" charset="-122"/>
                <a:cs typeface="Poppins" pitchFamily="34" charset="-120"/>
              </a:rPr>
              <a:t>1M-token</a:t>
            </a:r>
            <a:r>
              <a:rPr lang="en-US" sz="1450" dirty="0">
                <a:solidFill>
                  <a:srgbClr val="1B365D"/>
                </a:solidFill>
                <a:latin typeface="Poppins" pitchFamily="34" charset="0"/>
                <a:ea typeface="Poppins" pitchFamily="34" charset="-122"/>
                <a:cs typeface="Poppins" pitchFamily="34" charset="-120"/>
              </a:rPr>
              <a:t> context windows</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Pick context size and </a:t>
            </a:r>
            <a:r>
              <a:rPr lang="en-US" sz="1450" b="1" dirty="0">
                <a:solidFill>
                  <a:srgbClr val="1B365D"/>
                </a:solidFill>
                <a:latin typeface="Poppins" pitchFamily="34" charset="0"/>
                <a:ea typeface="Poppins" pitchFamily="34" charset="-122"/>
                <a:cs typeface="Poppins" pitchFamily="34" charset="-120"/>
              </a:rPr>
              <a:t>reasoning effort</a:t>
            </a:r>
            <a:r>
              <a:rPr lang="en-US" sz="1450" dirty="0">
                <a:solidFill>
                  <a:srgbClr val="1B365D"/>
                </a:solidFill>
                <a:latin typeface="Poppins" pitchFamily="34" charset="0"/>
                <a:ea typeface="Poppins" pitchFamily="34" charset="-122"/>
                <a:cs typeface="Poppins" pitchFamily="34" charset="-120"/>
              </a:rPr>
              <a:t> for a model in the same place</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The picker shows each model's </a:t>
            </a:r>
            <a:r>
              <a:rPr lang="en-US" sz="1450" b="1" dirty="0">
                <a:solidFill>
                  <a:srgbClr val="1B365D"/>
                </a:solidFill>
                <a:latin typeface="Poppins" pitchFamily="34" charset="0"/>
                <a:ea typeface="Poppins" pitchFamily="34" charset="-122"/>
                <a:cs typeface="Poppins" pitchFamily="34" charset="-120"/>
              </a:rPr>
              <a:t>cost</a:t>
            </a:r>
            <a:r>
              <a:rPr lang="en-US" sz="1450" dirty="0">
                <a:solidFill>
                  <a:srgbClr val="1B365D"/>
                </a:solidFill>
                <a:latin typeface="Poppins" pitchFamily="34" charset="0"/>
                <a:ea typeface="Poppins" pitchFamily="34" charset="-122"/>
                <a:cs typeface="Poppins" pitchFamily="34" charset="-120"/>
              </a:rPr>
              <a:t> beside its name</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Copilot and Anthropic models share one list: switch providers between turns</a:t>
            </a:r>
            <a:endParaRPr lang="en-US" sz="1250" dirty="0"/>
          </a:p>
        </p:txBody>
      </p:sp>
      <p:pic>
        <p:nvPicPr>
          <p:cNvPr id="5" name="Image 0" descr="preencoded.png"/>
          <p:cNvPicPr>
            <a:picLocks noChangeAspect="1"/>
          </p:cNvPicPr>
          <p:nvPr/>
        </p:nvPicPr>
        <p:blipFill>
          <a:blip r:embed="rId3"/>
          <a:stretch>
            <a:fillRect/>
          </a:stretch>
        </p:blipFill>
        <p:spPr>
          <a:xfrm>
            <a:off x="7987207" y="711002"/>
            <a:ext cx="3016869" cy="5435898"/>
          </a:xfrm>
          <a:prstGeom prst="rect">
            <a:avLst/>
          </a:prstGeom>
        </p:spPr>
      </p:pic>
    </p:spTree>
    <p:extLst>
      <p:ext uri="{BB962C8B-B14F-4D97-AF65-F5344CB8AC3E}">
        <p14:creationId xmlns:p14="http://schemas.microsoft.com/office/powerpoint/2010/main" val="1661025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BYOK and background tasks</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Background tasks that stop without an error</a:t>
            </a:r>
            <a:endParaRPr lang="en-US" sz="1850" dirty="0"/>
          </a:p>
        </p:txBody>
      </p:sp>
      <p:sp>
        <p:nvSpPr>
          <p:cNvPr id="4" name="Text 2"/>
          <p:cNvSpPr/>
          <p:nvPr/>
        </p:nvSpPr>
        <p:spPr>
          <a:xfrm>
            <a:off x="661475" y="2162969"/>
            <a:ext cx="3844134" cy="28571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BYOK runs chat and agents on your own key with </a:t>
            </a:r>
            <a:r>
              <a:rPr lang="en-US" sz="1450" b="1" dirty="0">
                <a:solidFill>
                  <a:srgbClr val="1B365D"/>
                </a:solidFill>
                <a:latin typeface="Poppins" pitchFamily="34" charset="0"/>
                <a:ea typeface="Poppins" pitchFamily="34" charset="-122"/>
                <a:cs typeface="Poppins" pitchFamily="34" charset="-120"/>
              </a:rPr>
              <a:t>no GitHub sign-in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Inline suggestions and Next Edit Suggestions still need a signed-in license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chat.utilityModel</a:t>
            </a:r>
            <a:r>
              <a:rPr lang="en-US" sz="1450" dirty="0">
                <a:solidFill>
                  <a:srgbClr val="1B365D"/>
                </a:solidFill>
                <a:latin typeface="Poppins" pitchFamily="34" charset="0"/>
                <a:ea typeface="Poppins" pitchFamily="34" charset="-122"/>
                <a:cs typeface="Poppins" pitchFamily="34" charset="-120"/>
              </a:rPr>
              <a:t> drives chat titles, commit messages and intent detection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Go BYOK without a utility model and those tasks </a:t>
            </a:r>
            <a:r>
              <a:rPr lang="en-US" sz="1450" b="1" dirty="0">
                <a:solidFill>
                  <a:srgbClr val="1B365D"/>
                </a:solidFill>
                <a:latin typeface="Poppins" pitchFamily="34" charset="0"/>
                <a:ea typeface="Poppins" pitchFamily="34" charset="-122"/>
                <a:cs typeface="Poppins" pitchFamily="34" charset="-120"/>
              </a:rPr>
              <a:t>silently stop</a:t>
            </a:r>
            <a:r>
              <a:rPr lang="en-US" sz="1450" dirty="0">
                <a:solidFill>
                  <a:srgbClr val="1B365D"/>
                </a:solidFill>
                <a:latin typeface="Poppins" pitchFamily="34" charset="0"/>
                <a:ea typeface="Poppins" pitchFamily="34" charset="-122"/>
                <a:cs typeface="Poppins" pitchFamily="34" charset="-120"/>
              </a:rPr>
              <a:t>: set </a:t>
            </a:r>
            <a:r>
              <a:rPr lang="en-US" sz="1450" dirty="0">
                <a:solidFill>
                  <a:srgbClr val="1B365D"/>
                </a:solidFill>
                <a:highlight>
                  <a:srgbClr val="F2F2F2"/>
                </a:highlight>
                <a:latin typeface="Consolas" pitchFamily="34" charset="0"/>
                <a:ea typeface="Consolas" pitchFamily="34" charset="-122"/>
                <a:cs typeface="Consolas" pitchFamily="34" charset="-120"/>
              </a:rPr>
              <a:t>chat.byokUtilityModelDefault</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526752"/>
            <a:ext cx="10868745" cy="553740"/>
          </a:xfrm>
          <a:prstGeom prst="rect">
            <a:avLst/>
          </a:prstGeom>
          <a:noFill/>
          <a:ln/>
        </p:spPr>
        <p:txBody>
          <a:bodyPr wrap="none" lIns="0" tIns="0" rIns="0" bIns="0" rtlCol="0" anchor="t"/>
          <a:lstStyle/>
          <a:p>
            <a:pPr marL="0" indent="0" algn="l">
              <a:lnSpc>
                <a:spcPct val="104000"/>
              </a:lnSpc>
              <a:buNone/>
            </a:pPr>
            <a:r>
              <a:rPr lang="en-US" sz="3450" dirty="0" b="1">
                <a:solidFill>
                  <a:srgbClr val="0D0D0D"/>
                </a:solidFill>
                <a:latin typeface="Montserrat" pitchFamily="34" charset="0"/>
                <a:ea typeface="Montserrat" pitchFamily="34" charset="-122"/>
                <a:cs typeface="Montserrat" pitchFamily="34" charset="-120"/>
              </a:rPr>
              <a:t>Custom Endpoint and per-model tuning</a:t>
            </a:r>
            <a:endParaRPr lang="en-US" sz="3450" dirty="0"/>
          </a:p>
        </p:txBody>
      </p:sp>
      <p:sp>
        <p:nvSpPr>
          <p:cNvPr id="3" name="Text 1"/>
          <p:cNvSpPr/>
          <p:nvPr/>
        </p:nvSpPr>
        <p:spPr>
          <a:xfrm>
            <a:off x="661475" y="1146870"/>
            <a:ext cx="10868745" cy="276920"/>
          </a:xfrm>
          <a:prstGeom prst="rect">
            <a:avLst/>
          </a:prstGeom>
          <a:noFill/>
          <a:ln/>
        </p:spPr>
        <p:txBody>
          <a:bodyPr wrap="none" lIns="0" tIns="0" rIns="0" bIns="0" rtlCol="0" anchor="t"/>
          <a:lstStyle/>
          <a:p>
            <a:pPr marL="0" indent="0" algn="l">
              <a:lnSpc>
                <a:spcPct val="104000"/>
              </a:lnSpc>
              <a:buNone/>
            </a:pPr>
            <a:r>
              <a:rPr lang="en-US" sz="1700" dirty="0" b="1">
                <a:solidFill>
                  <a:srgbClr val="0D0D0D"/>
                </a:solidFill>
                <a:latin typeface="Montserrat" pitchFamily="34" charset="0"/>
                <a:ea typeface="Montserrat" pitchFamily="34" charset="-122"/>
                <a:cs typeface="Montserrat" pitchFamily="34" charset="-120"/>
              </a:rPr>
              <a:t>Front your own models without a shim</a:t>
            </a:r>
            <a:endParaRPr lang="en-US" sz="1700" dirty="0"/>
          </a:p>
        </p:txBody>
      </p:sp>
      <p:sp>
        <p:nvSpPr>
          <p:cNvPr id="4" name="Text 2"/>
          <p:cNvSpPr/>
          <p:nvPr/>
        </p:nvSpPr>
        <p:spPr>
          <a:xfrm>
            <a:off x="661475" y="1822351"/>
            <a:ext cx="5218280" cy="1856581"/>
          </a:xfrm>
          <a:prstGeom prst="rect">
            <a:avLst/>
          </a:prstGeom>
          <a:noFill/>
          <a:ln/>
        </p:spPr>
        <p:txBody>
          <a:bodyPr wrap="square" lIns="0" tIns="0" rIns="0" bIns="0" rtlCol="0" anchor="t">
            <a:normAutofit/>
          </a:bodyPr>
          <a:lstStyle/>
          <a:p>
            <a:pPr marL="274320" indent="-274320" algn="l">
              <a:lnSpc>
                <a:spcPct val="113000"/>
              </a:lnSpc>
              <a:buSzPct val="100000"/>
              <a:buChar char="•"/>
            </a:pPr>
            <a:r>
              <a:rPr lang="en-US" sz="1350" b="1" dirty="0">
                <a:solidFill>
                  <a:srgbClr val="1B365D"/>
                </a:solidFill>
                <a:latin typeface="Poppins" pitchFamily="34" charset="0"/>
                <a:ea typeface="Poppins" pitchFamily="34" charset="-122"/>
                <a:cs typeface="Poppins" pitchFamily="34" charset="-120"/>
              </a:rPr>
              <a:t>Custom Endpoint</a:t>
            </a:r>
            <a:r>
              <a:rPr lang="en-US" sz="1350" dirty="0">
                <a:solidFill>
                  <a:srgbClr val="1B365D"/>
                </a:solidFill>
                <a:latin typeface="Poppins" pitchFamily="34" charset="0"/>
                <a:ea typeface="Poppins" pitchFamily="34" charset="-122"/>
                <a:cs typeface="Poppins" pitchFamily="34" charset="-120"/>
              </a:rPr>
              <a:t> replaces the OpenAI-compatible provider</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Three request shapes: </a:t>
            </a:r>
            <a:r>
              <a:rPr lang="en-US" sz="1350" dirty="0">
                <a:solidFill>
                  <a:srgbClr val="1B365D"/>
                </a:solidFill>
                <a:highlight>
                  <a:srgbClr val="F2F2F2"/>
                </a:highlight>
                <a:latin typeface="Consolas" pitchFamily="34" charset="0"/>
                <a:ea typeface="Consolas" pitchFamily="34" charset="-122"/>
                <a:cs typeface="Consolas" pitchFamily="34" charset="-120"/>
              </a:rPr>
              <a:t>chat-completions</a:t>
            </a:r>
            <a:r>
              <a:rPr lang="en-US" sz="1350" dirty="0">
                <a:solidFill>
                  <a:srgbClr val="1B365D"/>
                </a:solidFill>
                <a:latin typeface="Poppins" pitchFamily="34" charset="0"/>
                <a:ea typeface="Poppins" pitchFamily="34" charset="-122"/>
                <a:cs typeface="Poppins" pitchFamily="34" charset="-120"/>
              </a:rPr>
              <a:t>, </a:t>
            </a:r>
            <a:r>
              <a:rPr lang="en-US" sz="1350" dirty="0">
                <a:solidFill>
                  <a:srgbClr val="1B365D"/>
                </a:solidFill>
                <a:highlight>
                  <a:srgbClr val="F2F2F2"/>
                </a:highlight>
                <a:latin typeface="Consolas" pitchFamily="34" charset="0"/>
                <a:ea typeface="Consolas" pitchFamily="34" charset="-122"/>
                <a:cs typeface="Consolas" pitchFamily="34" charset="-120"/>
              </a:rPr>
              <a:t>responses</a:t>
            </a:r>
            <a:r>
              <a:rPr lang="en-US" sz="1350" dirty="0">
                <a:solidFill>
                  <a:srgbClr val="1B365D"/>
                </a:solidFill>
                <a:latin typeface="Poppins" pitchFamily="34" charset="0"/>
                <a:ea typeface="Poppins" pitchFamily="34" charset="-122"/>
                <a:cs typeface="Poppins" pitchFamily="34" charset="-120"/>
              </a:rPr>
              <a:t>, </a:t>
            </a:r>
            <a:r>
              <a:rPr lang="en-US" sz="1350" dirty="0">
                <a:solidFill>
                  <a:srgbClr val="1B365D"/>
                </a:solidFill>
                <a:highlight>
                  <a:srgbClr val="F2F2F2"/>
                </a:highlight>
                <a:latin typeface="Consolas" pitchFamily="34" charset="0"/>
                <a:ea typeface="Consolas" pitchFamily="34" charset="-122"/>
                <a:cs typeface="Consolas" pitchFamily="34" charset="-120"/>
              </a:rPr>
              <a:t>messages</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Per-model </a:t>
            </a:r>
            <a:r>
              <a:rPr lang="en-US" sz="1350" dirty="0">
                <a:solidFill>
                  <a:srgbClr val="1B365D"/>
                </a:solidFill>
                <a:highlight>
                  <a:srgbClr val="F2F2F2"/>
                </a:highlight>
                <a:latin typeface="Consolas" pitchFamily="34" charset="0"/>
                <a:ea typeface="Consolas" pitchFamily="34" charset="-122"/>
                <a:cs typeface="Consolas" pitchFamily="34" charset="-120"/>
              </a:rPr>
              <a:t>modelOptions</a:t>
            </a:r>
            <a:r>
              <a:rPr lang="en-US" sz="1350" dirty="0">
                <a:solidFill>
                  <a:srgbClr val="1B365D"/>
                </a:solidFill>
                <a:latin typeface="Poppins" pitchFamily="34" charset="0"/>
                <a:ea typeface="Poppins" pitchFamily="34" charset="-122"/>
                <a:cs typeface="Poppins" pitchFamily="34" charset="-120"/>
              </a:rPr>
              <a:t> set </a:t>
            </a:r>
            <a:r>
              <a:rPr lang="en-US" sz="1350" dirty="0">
                <a:solidFill>
                  <a:srgbClr val="1B365D"/>
                </a:solidFill>
                <a:highlight>
                  <a:srgbClr val="F2F2F2"/>
                </a:highlight>
                <a:latin typeface="Consolas" pitchFamily="34" charset="0"/>
                <a:ea typeface="Consolas" pitchFamily="34" charset="-122"/>
                <a:cs typeface="Consolas" pitchFamily="34" charset="-120"/>
              </a:rPr>
              <a:t>temperature</a:t>
            </a:r>
            <a:r>
              <a:rPr lang="en-US" sz="1350" dirty="0">
                <a:solidFill>
                  <a:srgbClr val="1B365D"/>
                </a:solidFill>
                <a:latin typeface="Poppins" pitchFamily="34" charset="0"/>
                <a:ea typeface="Poppins" pitchFamily="34" charset="-122"/>
                <a:cs typeface="Poppins" pitchFamily="34" charset="-120"/>
              </a:rPr>
              <a:t> and </a:t>
            </a:r>
            <a:r>
              <a:rPr lang="en-US" sz="1350" dirty="0">
                <a:solidFill>
                  <a:srgbClr val="1B365D"/>
                </a:solidFill>
                <a:highlight>
                  <a:srgbClr val="F2F2F2"/>
                </a:highlight>
                <a:latin typeface="Consolas" pitchFamily="34" charset="0"/>
                <a:ea typeface="Consolas" pitchFamily="34" charset="-122"/>
                <a:cs typeface="Consolas" pitchFamily="34" charset="-120"/>
              </a:rPr>
              <a:t>top_p</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The built-in Ollama provider is deprecated: install the official Ollama extension</a:t>
            </a:r>
            <a:endParaRPr lang="en-US" sz="1350" dirty="0"/>
          </a:p>
        </p:txBody>
      </p:sp>
      <p:pic>
        <p:nvPicPr>
          <p:cNvPr id="5" name="Image 0" descr="preencoded.png"/>
          <p:cNvPicPr>
            <a:picLocks noChangeAspect="1"/>
          </p:cNvPicPr>
          <p:nvPr/>
        </p:nvPicPr>
        <p:blipFill>
          <a:blip r:embed="rId3"/>
          <a:stretch>
            <a:fillRect/>
          </a:stretch>
        </p:blipFill>
        <p:spPr>
          <a:xfrm>
            <a:off x="6318290" y="1859756"/>
            <a:ext cx="5218280" cy="42846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Shaping the Context Window</a:t>
            </a:r>
          </a:p>
          <a:p>
            <a:pPr>
              <a:lnSpc>
                <a:spcPct val="95000"/>
              </a:lnSpc>
              <a:spcBef>
                <a:spcPts val="1400"/>
              </a:spcBef>
            </a:pPr>
            <a:r>
              <a:rPr sz="2000" b="0">
                <a:solidFill>
                  <a:srgbClr val="595F67"/>
                </a:solidFill>
                <a:latin typeface="Poppins"/>
              </a:rPr>
              <a:t>Prompt caching and deliberate context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693936"/>
            <a:ext cx="6388635" cy="620000"/>
          </a:xfrm>
          <a:prstGeom prst="rect">
            <a:avLst/>
          </a:prstGeom>
          <a:noFill/>
          <a:ln/>
        </p:spPr>
        <p:txBody>
          <a:bodyPr wrap="none" lIns="0" tIns="0" rIns="0" bIns="0" rtlCol="0" anchor="t">
            <a:no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Context window contents</a:t>
            </a:r>
            <a:endParaRPr lang="en-US" sz="2650" dirty="0"/>
          </a:p>
        </p:txBody>
      </p:sp>
      <p:sp>
        <p:nvSpPr>
          <p:cNvPr id="3" name="Text 1"/>
          <p:cNvSpPr/>
          <p:nvPr/>
        </p:nvSpPr>
        <p:spPr>
          <a:xfrm>
            <a:off x="661475" y="1463936"/>
            <a:ext cx="6388635" cy="300000"/>
          </a:xfrm>
          <a:prstGeom prst="rect">
            <a:avLst/>
          </a:prstGeom>
          <a:noFill/>
          <a:ln/>
        </p:spPr>
        <p:txBody>
          <a:bodyPr wrap="none" lIns="0" tIns="0" rIns="0" bIns="0" rtlCol="0" anchor="t">
            <a:no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From system instructions to conversation history</a:t>
            </a:r>
            <a:endParaRPr lang="en-US" sz="1300" dirty="0"/>
          </a:p>
        </p:txBody>
      </p:sp>
      <p:sp>
        <p:nvSpPr>
          <p:cNvPr id="4" name="Text 2"/>
          <p:cNvSpPr/>
          <p:nvPr/>
        </p:nvSpPr>
        <p:spPr>
          <a:xfrm>
            <a:off x="661475" y="1913936"/>
            <a:ext cx="6388635" cy="3200000"/>
          </a:xfrm>
          <a:prstGeom prst="rect">
            <a:avLst/>
          </a:prstGeom>
          <a:noFill/>
          <a:ln/>
        </p:spPr>
        <p:txBody>
          <a:bodyPr wrap="square" lIns="0" tIns="0" rIns="0" bIns="0" rtlCol="0" anchor="t">
            <a:noAutofit/>
          </a:bodyPr>
          <a:lstStyle/>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System instructions and tool definitions</a:t>
            </a:r>
            <a:r>
              <a:rPr lang="en-US" sz="1450" dirty="0">
                <a:solidFill>
                  <a:srgbClr val="1B365D"/>
                </a:solidFill>
                <a:latin typeface="Poppins" pitchFamily="34" charset="0"/>
                <a:ea typeface="Poppins" pitchFamily="34" charset="-122"/>
                <a:cs typeface="Poppins" pitchFamily="34" charset="-120"/>
              </a:rPr>
              <a:t> form the foundation</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Custom instructions</a:t>
            </a:r>
            <a:r>
              <a:rPr lang="en-US" sz="1450" dirty="0">
                <a:solidFill>
                  <a:srgbClr val="1B365D"/>
                </a:solidFill>
                <a:latin typeface="Poppins" pitchFamily="34" charset="0"/>
                <a:ea typeface="Poppins" pitchFamily="34" charset="-122"/>
                <a:cs typeface="Poppins" pitchFamily="34" charset="-120"/>
              </a:rPr>
              <a:t> and </a:t>
            </a:r>
            <a:r>
              <a:rPr lang="en-US" sz="1450" b="1" dirty="0">
                <a:solidFill>
                  <a:srgbClr val="1B365D"/>
                </a:solidFill>
                <a:latin typeface="Poppins" pitchFamily="34" charset="0"/>
                <a:ea typeface="Poppins" pitchFamily="34" charset="-122"/>
                <a:cs typeface="Poppins" pitchFamily="34" charset="-120"/>
              </a:rPr>
              <a:t>skills</a:t>
            </a:r>
            <a:r>
              <a:rPr lang="en-US" sz="1450" dirty="0">
                <a:solidFill>
                  <a:srgbClr val="1B365D"/>
                </a:solidFill>
                <a:latin typeface="Poppins" pitchFamily="34" charset="0"/>
                <a:ea typeface="Poppins" pitchFamily="34" charset="-122"/>
                <a:cs typeface="Poppins" pitchFamily="34" charset="-120"/>
              </a:rPr>
              <a:t> add project rules and capabilities</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User context</a:t>
            </a:r>
            <a:r>
              <a:rPr lang="en-US" sz="1450" dirty="0">
                <a:solidFill>
                  <a:srgbClr val="1B365D"/>
                </a:solidFill>
                <a:latin typeface="Poppins" pitchFamily="34" charset="0"/>
                <a:ea typeface="Poppins" pitchFamily="34" charset="-122"/>
                <a:cs typeface="Poppins" pitchFamily="34" charset="-120"/>
              </a:rPr>
              <a:t>: open files, selections and attached references</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Conversation history</a:t>
            </a:r>
            <a:r>
              <a:rPr lang="en-US" sz="1450" dirty="0">
                <a:solidFill>
                  <a:srgbClr val="1B365D"/>
                </a:solidFill>
                <a:latin typeface="Poppins" pitchFamily="34" charset="0"/>
                <a:ea typeface="Poppins" pitchFamily="34" charset="-122"/>
                <a:cs typeface="Poppins" pitchFamily="34" charset="-120"/>
              </a:rPr>
              <a:t> carries previous exchanges forward</a:t>
            </a:r>
            <a:endParaRPr lang="en-US" sz="1050" dirty="0"/>
          </a:p>
        </p:txBody>
      </p:sp>
      <p:pic>
        <p:nvPicPr>
          <p:cNvPr id="5" name="Image 0" descr="preencoded.png"/>
          <p:cNvPicPr>
            <a:picLocks noChangeAspect="1"/>
          </p:cNvPicPr>
          <p:nvPr/>
        </p:nvPicPr>
        <p:blipFill>
          <a:blip r:embed="rId3"/>
          <a:stretch>
            <a:fillRect/>
          </a:stretch>
        </p:blipFill>
        <p:spPr>
          <a:xfrm>
            <a:off x="7387842" y="677863"/>
            <a:ext cx="3944640" cy="5502275"/>
          </a:xfrm>
          <a:prstGeom prst="rect">
            <a:avLst/>
          </a:prstGeom>
        </p:spPr>
      </p:pic>
    </p:spTree>
    <p:extLst>
      <p:ext uri="{BB962C8B-B14F-4D97-AF65-F5344CB8AC3E}">
        <p14:creationId xmlns:p14="http://schemas.microsoft.com/office/powerpoint/2010/main" val="39042663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23999"/>
            <a:ext cx="3504219" cy="2362597"/>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Prompt caching</a:t>
            </a:r>
            <a:endParaRPr lang="en-US" sz="3700" dirty="0"/>
          </a:p>
        </p:txBody>
      </p:sp>
      <p:sp>
        <p:nvSpPr>
          <p:cNvPr id="3" name="Text 1"/>
          <p:cNvSpPr/>
          <p:nvPr/>
        </p:nvSpPr>
        <p:spPr>
          <a:xfrm>
            <a:off x="661475" y="3162201"/>
            <a:ext cx="3504219" cy="590550"/>
          </a:xfrm>
          <a:prstGeom prst="rect">
            <a:avLst/>
          </a:prstGeom>
          <a:noFill/>
          <a:ln/>
        </p:spPr>
        <p:txBody>
          <a:bodyPr wrap="square" lIns="0" tIns="0" rIns="0" bIns="0" rtlCol="0" anchor="t">
            <a:normAutofit/>
          </a:bodyPr>
          <a:lstStyle/>
          <a:p>
            <a:pPr marL="0" indent="0" algn="l">
              <a:lnSpc>
                <a:spcPct val="104000"/>
              </a:lnSpc>
              <a:buNone/>
            </a:pPr>
            <a:r>
              <a:rPr lang="en-US" sz="1550" dirty="0" b="1">
                <a:solidFill>
                  <a:srgbClr val="0D0D0D"/>
                </a:solidFill>
                <a:latin typeface="Montserrat" pitchFamily="34" charset="0"/>
                <a:ea typeface="Montserrat" pitchFamily="34" charset="-122"/>
                <a:cs typeface="Montserrat" pitchFamily="34" charset="-120"/>
              </a:rPr>
              <a:t>Context engineering becomes a decision about ordering</a:t>
            </a:r>
            <a:endParaRPr lang="en-US" sz="1850" dirty="0"/>
          </a:p>
        </p:txBody>
      </p:sp>
      <p:sp>
        <p:nvSpPr>
          <p:cNvPr id="4" name="Text 2"/>
          <p:cNvSpPr/>
          <p:nvPr/>
        </p:nvSpPr>
        <p:spPr>
          <a:xfrm>
            <a:off x="661475" y="3941763"/>
            <a:ext cx="350421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The stable prefix is processed once and </a:t>
            </a:r>
            <a:r>
              <a:rPr lang="en-US" sz="1450" b="1" dirty="0">
                <a:solidFill>
                  <a:srgbClr val="1B365D"/>
                </a:solidFill>
                <a:latin typeface="Poppins" pitchFamily="34" charset="0"/>
                <a:ea typeface="Poppins" pitchFamily="34" charset="-122"/>
                <a:cs typeface="Poppins" pitchFamily="34" charset="-120"/>
              </a:rPr>
              <a:t>reused on the next turn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Put instructions and big reference files </a:t>
            </a:r>
            <a:r>
              <a:rPr lang="en-US" sz="1450" b="1" dirty="0">
                <a:solidFill>
                  <a:srgbClr val="1B365D"/>
                </a:solidFill>
                <a:latin typeface="Poppins" pitchFamily="34" charset="0"/>
                <a:ea typeface="Poppins" pitchFamily="34" charset="-122"/>
                <a:cs typeface="Poppins" pitchFamily="34" charset="-120"/>
              </a:rPr>
              <a:t>first</a:t>
            </a:r>
            <a:r>
              <a:rPr lang="en-US" sz="1450" dirty="0">
                <a:solidFill>
                  <a:srgbClr val="1B365D"/>
                </a:solidFill>
                <a:latin typeface="Poppins" pitchFamily="34" charset="0"/>
                <a:ea typeface="Poppins" pitchFamily="34" charset="-122"/>
                <a:cs typeface="Poppins" pitchFamily="34" charset="-120"/>
              </a:rPr>
              <a:t>, the latest question </a:t>
            </a:r>
            <a:r>
              <a:rPr lang="en-US" sz="1450" b="1" dirty="0">
                <a:solidFill>
                  <a:srgbClr val="1B365D"/>
                </a:solidFill>
                <a:latin typeface="Poppins" pitchFamily="34" charset="0"/>
                <a:ea typeface="Poppins" pitchFamily="34" charset="-122"/>
                <a:cs typeface="Poppins" pitchFamily="34" charset="-120"/>
              </a:rPr>
              <a:t>last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Editing or reordering early context </a:t>
            </a:r>
            <a:r>
              <a:rPr lang="en-US" sz="1450" b="1" dirty="0">
                <a:solidFill>
                  <a:srgbClr val="1B365D"/>
                </a:solidFill>
                <a:latin typeface="Poppins" pitchFamily="34" charset="0"/>
                <a:ea typeface="Poppins" pitchFamily="34" charset="-122"/>
                <a:cs typeface="Poppins" pitchFamily="34" charset="-120"/>
              </a:rPr>
              <a:t>invalidates the cache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Cached tokens are billed at a </a:t>
            </a:r>
            <a:r>
              <a:rPr lang="en-US" sz="1450" b="1" dirty="0">
                <a:solidFill>
                  <a:srgbClr val="1B365D"/>
                </a:solidFill>
                <a:latin typeface="Poppins" pitchFamily="34" charset="0"/>
                <a:ea typeface="Poppins" pitchFamily="34" charset="-122"/>
                <a:cs typeface="Poppins" pitchFamily="34" charset="-120"/>
              </a:rPr>
              <a:t>lower rate</a:t>
            </a:r>
            <a:endParaRPr lang="en-US" sz="1450" dirty="0"/>
          </a:p>
        </p:txBody>
      </p:sp>
      <p:pic>
        <p:nvPicPr>
          <p:cNvPr id="5" name="Image 0" descr="preencoded.png"/>
          <p:cNvPicPr>
            <a:picLocks noChangeAspect="1"/>
          </p:cNvPicPr>
          <p:nvPr/>
        </p:nvPicPr>
        <p:blipFill>
          <a:blip r:embed="rId3"/>
          <a:stretch>
            <a:fillRect/>
          </a:stretch>
        </p:blipFill>
        <p:spPr>
          <a:xfrm>
            <a:off x="4633201" y="747613"/>
            <a:ext cx="6903269" cy="3883124"/>
          </a:xfrm>
          <a:prstGeom prst="rect">
            <a:avLst/>
          </a:prstGeom>
        </p:spPr>
      </p:pic>
    </p:spTree>
    <p:extLst>
      <p:ext uri="{BB962C8B-B14F-4D97-AF65-F5344CB8AC3E}">
        <p14:creationId xmlns:p14="http://schemas.microsoft.com/office/powerpoint/2010/main" val="4130216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65175"/>
            <a:ext cx="5215303" cy="1122363"/>
          </a:xfrm>
          <a:prstGeom prst="rect">
            <a:avLst/>
          </a:prstGeom>
          <a:noFill/>
          <a:ln/>
        </p:spPr>
        <p:txBody>
          <a:bodyPr wrap="square" lIns="0" tIns="0" rIns="0" bIns="0" rtlCol="0" anchor="t">
            <a:norm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Managing context size</a:t>
            </a:r>
            <a:endParaRPr lang="en-US" sz="3500" dirty="0"/>
          </a:p>
        </p:txBody>
      </p:sp>
      <p:sp>
        <p:nvSpPr>
          <p:cNvPr id="3" name="Text 1"/>
          <p:cNvSpPr/>
          <p:nvPr/>
        </p:nvSpPr>
        <p:spPr>
          <a:xfrm>
            <a:off x="661475" y="1955701"/>
            <a:ext cx="5215303" cy="280491"/>
          </a:xfrm>
          <a:prstGeom prst="rect">
            <a:avLst/>
          </a:prstGeom>
          <a:noFill/>
          <a:ln/>
        </p:spPr>
        <p:txBody>
          <a:bodyPr wrap="none" lIns="0" tIns="0" rIns="0" bIns="0" rtlCol="0" anchor="t"/>
          <a:lstStyle/>
          <a:p>
            <a:pPr marL="0" indent="0" algn="l">
              <a:lnSpc>
                <a:spcPct val="104000"/>
              </a:lnSpc>
              <a:buNone/>
            </a:pPr>
            <a:r>
              <a:rPr lang="en-US" sz="1650" dirty="0" b="1">
                <a:solidFill>
                  <a:srgbClr val="0D0D0D"/>
                </a:solidFill>
                <a:latin typeface="Montserrat" pitchFamily="34" charset="0"/>
                <a:ea typeface="Montserrat" pitchFamily="34" charset="-122"/>
                <a:cs typeface="Montserrat" pitchFamily="34" charset="-120"/>
              </a:rPr>
              <a:t>Attach what the task needs, not everything</a:t>
            </a:r>
            <a:endParaRPr lang="en-US" sz="1750" dirty="0"/>
          </a:p>
        </p:txBody>
      </p:sp>
      <p:sp>
        <p:nvSpPr>
          <p:cNvPr id="4" name="Text 2"/>
          <p:cNvSpPr/>
          <p:nvPr/>
        </p:nvSpPr>
        <p:spPr>
          <a:xfrm>
            <a:off x="661475" y="2406749"/>
            <a:ext cx="5215303" cy="1900734"/>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The context window indicator shows token usage as you work</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Attach project instructions, reference relevant files, include style samples</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You do not need every file attached at once</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ProTip</a:t>
            </a:r>
            <a:r>
              <a:rPr lang="en-US" sz="1400" dirty="0">
                <a:solidFill>
                  <a:srgbClr val="1B365D"/>
                </a:solidFill>
                <a:latin typeface="Poppins" pitchFamily="34" charset="0"/>
                <a:ea typeface="Poppins" pitchFamily="34" charset="-122"/>
                <a:cs typeface="Poppins" pitchFamily="34" charset="-120"/>
              </a:rPr>
              <a:t>: summarize into a </a:t>
            </a:r>
            <a:r>
              <a:rPr lang="en-US" sz="1400" dirty="0">
                <a:solidFill>
                  <a:srgbClr val="1B365D"/>
                </a:solidFill>
                <a:highlight>
                  <a:srgbClr val="F2F2F2"/>
                </a:highlight>
                <a:latin typeface="Consolas" pitchFamily="34" charset="0"/>
                <a:ea typeface="Consolas" pitchFamily="34" charset="-122"/>
                <a:cs typeface="Consolas" pitchFamily="34" charset="-120"/>
              </a:rPr>
              <a:t>feature-xxx.md</a:t>
            </a:r>
            <a:r>
              <a:rPr lang="en-US" sz="1400" dirty="0">
                <a:solidFill>
                  <a:srgbClr val="1B365D"/>
                </a:solidFill>
                <a:latin typeface="Poppins" pitchFamily="34" charset="0"/>
                <a:ea typeface="Poppins" pitchFamily="34" charset="-122"/>
                <a:cs typeface="Poppins" pitchFamily="34" charset="-120"/>
              </a:rPr>
              <a:t> and continue in a fresh conversation</a:t>
            </a:r>
            <a:endParaRPr lang="en-US" sz="1400" dirty="0"/>
          </a:p>
        </p:txBody>
      </p:sp>
      <p:pic>
        <p:nvPicPr>
          <p:cNvPr id="5" name="Image 0" descr="preencoded.png"/>
          <p:cNvPicPr>
            <a:picLocks noChangeAspect="1"/>
          </p:cNvPicPr>
          <p:nvPr/>
        </p:nvPicPr>
        <p:blipFill>
          <a:blip r:embed="rId3"/>
          <a:stretch>
            <a:fillRect/>
          </a:stretch>
        </p:blipFill>
        <p:spPr>
          <a:xfrm>
            <a:off x="6321267" y="786507"/>
            <a:ext cx="4954464" cy="5284887"/>
          </a:xfrm>
          <a:prstGeom prst="rect">
            <a:avLst/>
          </a:prstGeom>
        </p:spPr>
      </p:pic>
    </p:spTree>
    <p:extLst>
      <p:ext uri="{BB962C8B-B14F-4D97-AF65-F5344CB8AC3E}">
        <p14:creationId xmlns:p14="http://schemas.microsoft.com/office/powerpoint/2010/main" val="307390903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AI-Assisted Coding Essentials</a:t>
            </a:r>
          </a:p>
          <a:p>
            <a:pPr>
              <a:lnSpc>
                <a:spcPct val="95000"/>
              </a:lnSpc>
              <a:spcBef>
                <a:spcPts val="1400"/>
              </a:spcBef>
            </a:pPr>
            <a:r>
              <a:rPr sz="2000" b="0">
                <a:solidFill>
                  <a:srgbClr val="595F67"/>
                </a:solidFill>
                <a:latin typeface="Poppins"/>
              </a:rPr>
              <a:t>Prompting, inline suggestions and slash commands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19274"/>
            <a:ext cx="3504219" cy="177194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Four prompting techniques</a:t>
            </a:r>
            <a:endParaRPr lang="en-US" sz="3700" dirty="0"/>
          </a:p>
        </p:txBody>
      </p:sp>
      <p:sp>
        <p:nvSpPr>
          <p:cNvPr id="3" name="Text 1"/>
          <p:cNvSpPr/>
          <p:nvPr/>
        </p:nvSpPr>
        <p:spPr>
          <a:xfrm>
            <a:off x="661475" y="2866827"/>
            <a:ext cx="3504219" cy="590550"/>
          </a:xfrm>
          <a:prstGeom prst="rect">
            <a:avLst/>
          </a:prstGeom>
          <a:noFill/>
          <a:ln/>
        </p:spPr>
        <p:txBody>
          <a:bodyPr wrap="square" lIns="0" tIns="0" rIns="0" bIns="0" rtlCol="0" anchor="t">
            <a:norm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Clear context and intent produce the code you need</a:t>
            </a:r>
            <a:endParaRPr lang="en-US" sz="1850" dirty="0"/>
          </a:p>
        </p:txBody>
      </p:sp>
      <p:sp>
        <p:nvSpPr>
          <p:cNvPr id="4" name="Text 2"/>
          <p:cNvSpPr/>
          <p:nvPr/>
        </p:nvSpPr>
        <p:spPr>
          <a:xfrm>
            <a:off x="661475" y="3646388"/>
            <a:ext cx="350421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Few-Shot</a:t>
            </a:r>
            <a:r>
              <a:rPr lang="en-US" sz="1450" dirty="0">
                <a:solidFill>
                  <a:srgbClr val="1B365D"/>
                </a:solidFill>
                <a:latin typeface="Poppins" pitchFamily="34" charset="0"/>
                <a:ea typeface="Poppins" pitchFamily="34" charset="-122"/>
                <a:cs typeface="Poppins" pitchFamily="34" charset="-120"/>
              </a:rPr>
              <a:t>: show example snippets, ask for the same pattern</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Chain-of-Thought</a:t>
            </a:r>
            <a:r>
              <a:rPr lang="en-US" sz="1450" dirty="0">
                <a:solidFill>
                  <a:srgbClr val="1B365D"/>
                </a:solidFill>
                <a:latin typeface="Poppins" pitchFamily="34" charset="0"/>
                <a:ea typeface="Poppins" pitchFamily="34" charset="-122"/>
                <a:cs typeface="Poppins" pitchFamily="34" charset="-120"/>
              </a:rPr>
              <a:t>: break the problem into sequential steps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Context-Based</a:t>
            </a:r>
            <a:r>
              <a:rPr lang="en-US" sz="1450" dirty="0">
                <a:solidFill>
                  <a:srgbClr val="1B365D"/>
                </a:solidFill>
                <a:latin typeface="Poppins" pitchFamily="34" charset="0"/>
                <a:ea typeface="Poppins" pitchFamily="34" charset="-122"/>
                <a:cs typeface="Poppins" pitchFamily="34" charset="-120"/>
              </a:rPr>
              <a:t>: include schemas, config files or existing code</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Instruction-Based</a:t>
            </a:r>
            <a:r>
              <a:rPr lang="en-US" sz="1450" dirty="0">
                <a:solidFill>
                  <a:srgbClr val="1B365D"/>
                </a:solidFill>
                <a:latin typeface="Poppins" pitchFamily="34" charset="0"/>
                <a:ea typeface="Poppins" pitchFamily="34" charset="-122"/>
                <a:cs typeface="Poppins" pitchFamily="34" charset="-120"/>
              </a:rPr>
              <a:t>: structured specifications for predictable results</a:t>
            </a:r>
            <a:endParaRPr lang="en-US" sz="1450" dirty="0"/>
          </a:p>
        </p:txBody>
      </p:sp>
      <p:pic>
        <p:nvPicPr>
          <p:cNvPr id="5" name="Image 0" descr="preencoded.png"/>
          <p:cNvPicPr>
            <a:picLocks noChangeAspect="1"/>
          </p:cNvPicPr>
          <p:nvPr/>
        </p:nvPicPr>
        <p:blipFill>
          <a:blip r:embed="rId3"/>
          <a:stretch>
            <a:fillRect/>
          </a:stretch>
        </p:blipFill>
        <p:spPr>
          <a:xfrm>
            <a:off x="4633201" y="1042888"/>
            <a:ext cx="6903269" cy="3883124"/>
          </a:xfrm>
          <a:prstGeom prst="rect">
            <a:avLst/>
          </a:prstGeom>
        </p:spPr>
      </p:pic>
    </p:spTree>
    <p:extLst>
      <p:ext uri="{BB962C8B-B14F-4D97-AF65-F5344CB8AC3E}">
        <p14:creationId xmlns:p14="http://schemas.microsoft.com/office/powerpoint/2010/main" val="2777862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03399"/>
            <a:ext cx="3504219" cy="1771948"/>
          </a:xfrm>
          <a:prstGeom prst="rect">
            <a:avLst/>
          </a:prstGeom>
          <a:noFill/>
          <a:ln/>
        </p:spPr>
        <p:txBody>
          <a:bodyPr wrap="square" lIns="0" tIns="0" rIns="0" bIns="0" rtlCol="0" anchor="t">
            <a:normAutofit/>
          </a:bodyPr>
          <a:lstStyle/>
          <a:p>
            <a:pPr marL="0" indent="0" algn="l">
              <a:lnSpc>
                <a:spcPct val="104000"/>
              </a:lnSpc>
              <a:buNone/>
            </a:pPr>
            <a:r>
              <a:rPr lang="en-US" sz="2900" dirty="0" b="1">
                <a:solidFill>
                  <a:srgbClr val="0D0D0D"/>
                </a:solidFill>
                <a:latin typeface="Montserrat" pitchFamily="34" charset="0"/>
                <a:ea typeface="Montserrat" pitchFamily="34" charset="-122"/>
                <a:cs typeface="Montserrat" pitchFamily="34" charset="-120"/>
              </a:rPr>
              <a:t>Slash commands and context variables</a:t>
            </a:r>
            <a:endParaRPr lang="en-US" sz="3700" dirty="0"/>
          </a:p>
        </p:txBody>
      </p:sp>
      <p:sp>
        <p:nvSpPr>
          <p:cNvPr id="3" name="Text 1"/>
          <p:cNvSpPr/>
          <p:nvPr/>
        </p:nvSpPr>
        <p:spPr>
          <a:xfrm>
            <a:off x="661475" y="2850952"/>
            <a:ext cx="3504219" cy="590550"/>
          </a:xfrm>
          <a:prstGeom prst="rect">
            <a:avLst/>
          </a:prstGeom>
          <a:noFill/>
          <a:ln/>
        </p:spPr>
        <p:txBody>
          <a:bodyPr wrap="square" lIns="0" tIns="0" rIns="0" bIns="0" rtlCol="0" anchor="t">
            <a:normAutofit/>
          </a:bodyPr>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Route the intent, ground the request</a:t>
            </a:r>
            <a:endParaRPr lang="en-US" sz="1850" dirty="0"/>
          </a:p>
        </p:txBody>
      </p:sp>
      <p:sp>
        <p:nvSpPr>
          <p:cNvPr id="4" name="Text 2"/>
          <p:cNvSpPr/>
          <p:nvPr/>
        </p:nvSpPr>
        <p:spPr>
          <a:xfrm>
            <a:off x="661475" y="3630513"/>
            <a:ext cx="3504219" cy="23469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Slash commands route intent: </a:t>
            </a:r>
            <a:r>
              <a:rPr lang="en-US" sz="1450" dirty="0">
                <a:solidFill>
                  <a:srgbClr val="1B365D"/>
                </a:solidFill>
                <a:highlight>
                  <a:srgbClr val="F2F2F2"/>
                </a:highlight>
                <a:latin typeface="Consolas" pitchFamily="34" charset="0"/>
                <a:ea typeface="Consolas" pitchFamily="34" charset="-122"/>
                <a:cs typeface="Consolas" pitchFamily="34" charset="-120"/>
              </a:rPr>
              <a:t>/explain</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/fix</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/tests</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/optimize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#file</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#selection</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#codebase</a:t>
            </a:r>
            <a:r>
              <a:rPr lang="en-US" sz="1450" dirty="0">
                <a:solidFill>
                  <a:srgbClr val="1B365D"/>
                </a:solidFill>
                <a:latin typeface="Poppins" pitchFamily="34" charset="0"/>
                <a:ea typeface="Poppins" pitchFamily="34" charset="-122"/>
                <a:cs typeface="Poppins" pitchFamily="34" charset="-120"/>
              </a:rPr>
              <a:t> point at workspace code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#terminalLastCommand</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@terminal</a:t>
            </a:r>
            <a:r>
              <a:rPr lang="en-US" sz="1450" dirty="0">
                <a:solidFill>
                  <a:srgbClr val="1B365D"/>
                </a:solidFill>
                <a:latin typeface="Poppins" pitchFamily="34" charset="0"/>
                <a:ea typeface="Poppins" pitchFamily="34" charset="-122"/>
                <a:cs typeface="Poppins" pitchFamily="34" charset="-120"/>
              </a:rPr>
              <a:t> bring in terminal output and errors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#fetch</a:t>
            </a:r>
            <a:r>
              <a:rPr lang="en-US" sz="1450" dirty="0">
                <a:solidFill>
                  <a:srgbClr val="1B365D"/>
                </a:solidFill>
                <a:latin typeface="Poppins" pitchFamily="34" charset="0"/>
                <a:ea typeface="Poppins" pitchFamily="34" charset="-122"/>
                <a:cs typeface="Poppins" pitchFamily="34" charset="-120"/>
              </a:rPr>
              <a:t> pulls in content from a URL</a:t>
            </a:r>
            <a:endParaRPr lang="en-US" sz="1450" dirty="0"/>
          </a:p>
        </p:txBody>
      </p:sp>
      <p:pic>
        <p:nvPicPr>
          <p:cNvPr id="5" name="Image 0" descr="preencoded.png"/>
          <p:cNvPicPr>
            <a:picLocks noChangeAspect="1"/>
          </p:cNvPicPr>
          <p:nvPr/>
        </p:nvPicPr>
        <p:blipFill>
          <a:blip r:embed="rId3"/>
          <a:stretch>
            <a:fillRect/>
          </a:stretch>
        </p:blipFill>
        <p:spPr>
          <a:xfrm>
            <a:off x="4633201" y="1027013"/>
            <a:ext cx="6903269" cy="3883124"/>
          </a:xfrm>
          <a:prstGeom prst="rect">
            <a:avLst/>
          </a:prstGeom>
        </p:spPr>
      </p:pic>
    </p:spTree>
    <p:extLst>
      <p:ext uri="{BB962C8B-B14F-4D97-AF65-F5344CB8AC3E}">
        <p14:creationId xmlns:p14="http://schemas.microsoft.com/office/powerpoint/2010/main" val="2811056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473200"/>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Scaffolding an app with #fetch</a:t>
            </a:r>
            <a:endParaRPr lang="en-US" sz="3700" dirty="0"/>
          </a:p>
        </p:txBody>
      </p:sp>
      <p:sp>
        <p:nvSpPr>
          <p:cNvPr id="4" name="Text 1"/>
          <p:cNvSpPr/>
          <p:nvPr/>
        </p:nvSpPr>
        <p:spPr>
          <a:xfrm>
            <a:off x="661475" y="2730103"/>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One prompt, a running Agent Framework app</a:t>
            </a:r>
            <a:endParaRPr lang="en-US" sz="1850" dirty="0"/>
          </a:p>
        </p:txBody>
      </p:sp>
      <p:sp>
        <p:nvSpPr>
          <p:cNvPr id="5" name="Text 2"/>
          <p:cNvSpPr/>
          <p:nvPr/>
        </p:nvSpPr>
        <p:spPr>
          <a:xfrm>
            <a:off x="661475" y="3308846"/>
            <a:ext cx="6296860" cy="2075954"/>
          </a:xfrm>
          <a:prstGeom prst="rect">
            <a:avLst/>
          </a:prstGeom>
          <a:noFill/>
          <a:ln/>
        </p:spPr>
        <p:txBody>
          <a:bodyPr wrap="square" lIns="0" tIns="0" rIns="0" bIns="0" rtlCol="0" anchor="t">
            <a:normAutofit/>
          </a:bodyPr>
          <a:lstStyle/>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#fetch</a:t>
            </a:r>
            <a:r>
              <a:rPr lang="en-US" sz="1450" dirty="0">
                <a:solidFill>
                  <a:srgbClr val="1B365D"/>
                </a:solidFill>
                <a:latin typeface="Poppins" pitchFamily="34" charset="0"/>
                <a:ea typeface="Poppins" pitchFamily="34" charset="-122"/>
                <a:cs typeface="Poppins" pitchFamily="34" charset="-120"/>
              </a:rPr>
              <a:t> retrieves the Microsoft Agent Framework quick start from Microsoft Learn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One prompt: a Python 3.12 hello world, </a:t>
            </a:r>
            <a:r>
              <a:rPr lang="en-US" sz="1450" dirty="0">
                <a:solidFill>
                  <a:srgbClr val="1B365D"/>
                </a:solidFill>
                <a:highlight>
                  <a:srgbClr val="F2F2F2"/>
                </a:highlight>
                <a:latin typeface="Consolas" pitchFamily="34" charset="0"/>
                <a:ea typeface="Consolas" pitchFamily="34" charset="-122"/>
                <a:cs typeface="Consolas" pitchFamily="34" charset="-120"/>
              </a:rPr>
              <a:t>requirements.txt</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.venv</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.env</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"Implement the sample and run it until all errors are fixed"</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 beginner readme explains where the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values come from in Microsoft Foundry</a:t>
            </a:r>
            <a:endParaRPr lang="en-US" sz="1450" dirty="0"/>
          </a:p>
        </p:txBody>
      </p:sp>
    </p:spTree>
    <p:extLst>
      <p:ext uri="{BB962C8B-B14F-4D97-AF65-F5344CB8AC3E}">
        <p14:creationId xmlns:p14="http://schemas.microsoft.com/office/powerpoint/2010/main" val="3066209777"/>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Agent Mode Basics</a:t>
            </a:r>
          </a:p>
          <a:p>
            <a:pPr>
              <a:lnSpc>
                <a:spcPct val="95000"/>
              </a:lnSpc>
              <a:spcBef>
                <a:spcPts val="1400"/>
              </a:spcBef>
            </a:pPr>
            <a:r>
              <a:rPr sz="2000" b="0">
                <a:solidFill>
                  <a:srgbClr val="595F67"/>
                </a:solidFill>
                <a:latin typeface="Poppins"/>
              </a:rPr>
              <a:t>Local agents for multi-step work</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917674"/>
            <a:ext cx="3504219" cy="1181298"/>
          </a:xfrm>
          <a:prstGeom prst="rect">
            <a:avLst/>
          </a:prstGeom>
          <a:noFill/>
          <a:ln/>
        </p:spPr>
        <p:txBody>
          <a:bodyPr wrap="square" lIns="0" tIns="0" rIns="0" bIns="0" rtlCol="0" anchor="t">
            <a:normAutofit/>
          </a:bodyPr>
          <a:lstStyle/>
          <a:p>
            <a:pPr marL="0" indent="0" algn="l">
              <a:lnSpc>
                <a:spcPct val="104000"/>
              </a:lnSpc>
              <a:buNone/>
            </a:pPr>
            <a:r>
              <a:rPr lang="en-US" sz="3300" dirty="0" b="1">
                <a:solidFill>
                  <a:srgbClr val="0D0D0D"/>
                </a:solidFill>
                <a:latin typeface="Montserrat" pitchFamily="34" charset="0"/>
                <a:ea typeface="Montserrat" pitchFamily="34" charset="-122"/>
                <a:cs typeface="Montserrat" pitchFamily="34" charset="-120"/>
              </a:rPr>
              <a:t>Local agents in Agent Mode</a:t>
            </a:r>
            <a:endParaRPr lang="en-US" sz="3700" dirty="0"/>
          </a:p>
        </p:txBody>
      </p:sp>
      <p:sp>
        <p:nvSpPr>
          <p:cNvPr id="3" name="Text 1"/>
          <p:cNvSpPr/>
          <p:nvPr/>
        </p:nvSpPr>
        <p:spPr>
          <a:xfrm>
            <a:off x="661475" y="2174577"/>
            <a:ext cx="3504219" cy="590550"/>
          </a:xfrm>
          <a:prstGeom prst="rect">
            <a:avLst/>
          </a:prstGeom>
          <a:noFill/>
          <a:ln/>
        </p:spPr>
        <p:txBody>
          <a:bodyPr wrap="square" lIns="0" tIns="0" rIns="0" bIns="0" rtlCol="0" anchor="t">
            <a:normAutofit/>
          </a:bodyPr>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Real-time, multi-step work inside your editor</a:t>
            </a:r>
            <a:endParaRPr lang="en-US" sz="1850" dirty="0"/>
          </a:p>
        </p:txBody>
      </p:sp>
      <p:sp>
        <p:nvSpPr>
          <p:cNvPr id="4" name="Text 2"/>
          <p:cNvSpPr/>
          <p:nvPr/>
        </p:nvSpPr>
        <p:spPr>
          <a:xfrm>
            <a:off x="661475" y="2954139"/>
            <a:ext cx="3504219" cy="31090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Runs in your VS Code session: workspace files, terminal, editor state, npm scripts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Synchronous and blocking</a:t>
            </a:r>
            <a:r>
              <a:rPr lang="en-US" sz="1450" dirty="0">
                <a:solidFill>
                  <a:srgbClr val="1B365D"/>
                </a:solidFill>
                <a:latin typeface="Poppins" pitchFamily="34" charset="0"/>
                <a:ea typeface="Poppins" pitchFamily="34" charset="-122"/>
                <a:cs typeface="Poppins" pitchFamily="34" charset="-120"/>
              </a:rPr>
              <a:t>: one sequential task at a time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Full local auth: Azure CLI credentials, Git tokens, SSH keys, environment variables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Steering and queueing mid-run follow in module 3, Local Agents</a:t>
            </a:r>
            <a:endParaRPr lang="en-US" sz="1450" dirty="0"/>
          </a:p>
        </p:txBody>
      </p:sp>
      <p:pic>
        <p:nvPicPr>
          <p:cNvPr id="5" name="Image 0" descr="preencoded.png"/>
          <p:cNvPicPr>
            <a:picLocks noChangeAspect="1"/>
          </p:cNvPicPr>
          <p:nvPr/>
        </p:nvPicPr>
        <p:blipFill>
          <a:blip r:embed="rId3"/>
          <a:stretch>
            <a:fillRect/>
          </a:stretch>
        </p:blipFill>
        <p:spPr>
          <a:xfrm>
            <a:off x="4633201" y="941288"/>
            <a:ext cx="3544005" cy="2031901"/>
          </a:xfrm>
          <a:prstGeom prst="rect">
            <a:avLst/>
          </a:prstGeom>
        </p:spPr>
      </p:pic>
    </p:spTree>
    <p:extLst>
      <p:ext uri="{BB962C8B-B14F-4D97-AF65-F5344CB8AC3E}">
        <p14:creationId xmlns:p14="http://schemas.microsoft.com/office/powerpoint/2010/main" val="18603211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94284"/>
            <a:ext cx="3519201" cy="1122363"/>
          </a:xfrm>
          <a:prstGeom prst="rect">
            <a:avLst/>
          </a:prstGeom>
          <a:noFill/>
          <a:ln/>
        </p:spPr>
        <p:txBody>
          <a:bodyPr wrap="square" lIns="0" tIns="0" rIns="0" bIns="0" rtlCol="0" anchor="t">
            <a:norm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Agent Mode demo tasks</a:t>
            </a:r>
            <a:endParaRPr lang="en-US" sz="3500" dirty="0"/>
          </a:p>
        </p:txBody>
      </p:sp>
      <p:sp>
        <p:nvSpPr>
          <p:cNvPr id="3" name="Text 1"/>
          <p:cNvSpPr/>
          <p:nvPr/>
        </p:nvSpPr>
        <p:spPr>
          <a:xfrm>
            <a:off x="661475" y="2284809"/>
            <a:ext cx="3519201" cy="280491"/>
          </a:xfrm>
          <a:prstGeom prst="rect">
            <a:avLst/>
          </a:prstGeom>
          <a:noFill/>
          <a:ln/>
        </p:spPr>
        <p:txBody>
          <a:bodyPr wrap="none" lIns="0" tIns="0" rIns="0" bIns="0" rtlCol="0" anchor="t"/>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Scaffold, fix, update</a:t>
            </a:r>
            <a:endParaRPr lang="en-US" sz="1750" dirty="0"/>
          </a:p>
        </p:txBody>
      </p:sp>
      <p:sp>
        <p:nvSpPr>
          <p:cNvPr id="4" name="Text 2"/>
          <p:cNvSpPr/>
          <p:nvPr/>
        </p:nvSpPr>
        <p:spPr>
          <a:xfrm>
            <a:off x="661475" y="2735858"/>
            <a:ext cx="3519201" cy="3138785"/>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Scaffold</a:t>
            </a:r>
            <a:r>
              <a:rPr lang="en-US" sz="1400" dirty="0">
                <a:solidFill>
                  <a:srgbClr val="1B365D"/>
                </a:solidFill>
                <a:latin typeface="Poppins" pitchFamily="34" charset="0"/>
                <a:ea typeface="Poppins" pitchFamily="34" charset="-122"/>
                <a:cs typeface="Poppins" pitchFamily="34" charset="-120"/>
              </a:rPr>
              <a:t>: </a:t>
            </a:r>
            <a:r>
              <a:rPr lang="en-US" sz="1400" dirty="0">
                <a:solidFill>
                  <a:srgbClr val="1B365D"/>
                </a:solidFill>
                <a:highlight>
                  <a:srgbClr val="F2F2F2"/>
                </a:highlight>
                <a:latin typeface="Consolas" pitchFamily="34" charset="0"/>
                <a:ea typeface="Consolas" pitchFamily="34" charset="-122"/>
                <a:cs typeface="Consolas" pitchFamily="34" charset="-120"/>
              </a:rPr>
              <a:t>dotnet new webapi</a:t>
            </a:r>
            <a:r>
              <a:rPr lang="en-US" sz="1400" dirty="0">
                <a:solidFill>
                  <a:srgbClr val="1B365D"/>
                </a:solidFill>
                <a:latin typeface="Poppins" pitchFamily="34" charset="0"/>
                <a:ea typeface="Poppins" pitchFamily="34" charset="-122"/>
                <a:cs typeface="Poppins" pitchFamily="34" charset="-120"/>
              </a:rPr>
              <a:t>, an InstructionsController and Scalar UI, checked in the browser</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Fix</a:t>
            </a:r>
            <a:r>
              <a:rPr lang="en-US" sz="1400" dirty="0">
                <a:solidFill>
                  <a:srgbClr val="1B365D"/>
                </a:solidFill>
                <a:latin typeface="Poppins" pitchFamily="34" charset="0"/>
                <a:ea typeface="Poppins" pitchFamily="34" charset="-122"/>
                <a:cs typeface="Poppins" pitchFamily="34" charset="-120"/>
              </a:rPr>
              <a:t>: from </a:t>
            </a:r>
            <a:r>
              <a:rPr lang="en-US" sz="1400" dirty="0">
                <a:solidFill>
                  <a:srgbClr val="1B365D"/>
                </a:solidFill>
                <a:highlight>
                  <a:srgbClr val="F2F2F2"/>
                </a:highlight>
                <a:latin typeface="Consolas" pitchFamily="34" charset="0"/>
                <a:ea typeface="Consolas" pitchFamily="34" charset="-122"/>
                <a:cs typeface="Consolas" pitchFamily="34" charset="-120"/>
              </a:rPr>
              <a:t>#terminalLastCommand</a:t>
            </a:r>
            <a:r>
              <a:rPr lang="en-US" sz="1400" dirty="0">
                <a:solidFill>
                  <a:srgbClr val="1B365D"/>
                </a:solidFill>
                <a:latin typeface="Poppins" pitchFamily="34" charset="0"/>
                <a:ea typeface="Poppins" pitchFamily="34" charset="-122"/>
                <a:cs typeface="Poppins" pitchFamily="34" charset="-120"/>
              </a:rPr>
              <a:t> to keyless auth with DefaultAzureCredential</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Update</a:t>
            </a:r>
            <a:r>
              <a:rPr lang="en-US" sz="1400" dirty="0">
                <a:solidFill>
                  <a:srgbClr val="1B365D"/>
                </a:solidFill>
                <a:latin typeface="Poppins" pitchFamily="34" charset="0"/>
                <a:ea typeface="Poppins" pitchFamily="34" charset="-122"/>
                <a:cs typeface="Poppins" pitchFamily="34" charset="-120"/>
              </a:rPr>
              <a:t>: pin the agentfw_ agents to the latest Agent Framework, write </a:t>
            </a:r>
            <a:r>
              <a:rPr lang="en-US" sz="1400" dirty="0">
                <a:solidFill>
                  <a:srgbClr val="1B365D"/>
                </a:solidFill>
                <a:highlight>
                  <a:srgbClr val="F2F2F2"/>
                </a:highlight>
                <a:latin typeface="Consolas" pitchFamily="34" charset="0"/>
                <a:ea typeface="Consolas" pitchFamily="34" charset="-122"/>
                <a:cs typeface="Consolas" pitchFamily="34" charset="-120"/>
              </a:rPr>
              <a:t>upgrade-report.md</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Each prompt sends the agent to </a:t>
            </a:r>
            <a:r>
              <a:rPr lang="en-US" sz="1400" b="1" dirty="0">
                <a:solidFill>
                  <a:srgbClr val="1B365D"/>
                </a:solidFill>
                <a:latin typeface="Poppins" pitchFamily="34" charset="0"/>
                <a:ea typeface="Poppins" pitchFamily="34" charset="-122"/>
                <a:cs typeface="Poppins" pitchFamily="34" charset="-120"/>
              </a:rPr>
              <a:t>Microsoft Learn MCP</a:t>
            </a:r>
            <a:r>
              <a:rPr lang="en-US" sz="1400" dirty="0">
                <a:solidFill>
                  <a:srgbClr val="1B365D"/>
                </a:solidFill>
                <a:latin typeface="Poppins" pitchFamily="34" charset="0"/>
                <a:ea typeface="Poppins" pitchFamily="34" charset="-122"/>
                <a:cs typeface="Poppins" pitchFamily="34" charset="-120"/>
              </a:rPr>
              <a:t> and to build, run and fix until clean</a:t>
            </a:r>
            <a:endParaRPr lang="en-US" sz="1400" dirty="0"/>
          </a:p>
        </p:txBody>
      </p:sp>
      <p:pic>
        <p:nvPicPr>
          <p:cNvPr id="5" name="Image 0" descr="preencoded.png"/>
          <p:cNvPicPr>
            <a:picLocks noChangeAspect="1"/>
          </p:cNvPicPr>
          <p:nvPr/>
        </p:nvPicPr>
        <p:blipFill>
          <a:blip r:embed="rId3"/>
          <a:stretch>
            <a:fillRect/>
          </a:stretch>
        </p:blipFill>
        <p:spPr>
          <a:xfrm>
            <a:off x="4625165" y="1115616"/>
            <a:ext cx="6565736" cy="3693319"/>
          </a:xfrm>
          <a:prstGeom prst="rect">
            <a:avLst/>
          </a:prstGeom>
        </p:spPr>
      </p:pic>
    </p:spTree>
    <p:extLst>
      <p:ext uri="{BB962C8B-B14F-4D97-AF65-F5344CB8AC3E}">
        <p14:creationId xmlns:p14="http://schemas.microsoft.com/office/powerpoint/2010/main" val="2562989455"/>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Pull Requests &amp; Code Reviews</a:t>
            </a:r>
          </a:p>
          <a:p>
            <a:pPr>
              <a:lnSpc>
                <a:spcPct val="95000"/>
              </a:lnSpc>
              <a:spcBef>
                <a:spcPts val="1400"/>
              </a:spcBef>
            </a:pPr>
            <a:r>
              <a:rPr sz="2000" b="0">
                <a:solidFill>
                  <a:srgbClr val="595F67"/>
                </a:solidFill>
                <a:latin typeface="Poppins"/>
              </a:rPr>
              <a:t>PR descriptions and review feedback</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750516"/>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Pull requests and code reviews</a:t>
            </a:r>
            <a:endParaRPr lang="en-US" sz="3700" dirty="0"/>
          </a:p>
        </p:txBody>
      </p:sp>
      <p:sp>
        <p:nvSpPr>
          <p:cNvPr id="4" name="Text 1"/>
          <p:cNvSpPr/>
          <p:nvPr/>
        </p:nvSpPr>
        <p:spPr>
          <a:xfrm>
            <a:off x="661475" y="3007420"/>
            <a:ext cx="6296860" cy="295275"/>
          </a:xfrm>
          <a:prstGeom prst="rect">
            <a:avLst/>
          </a:prstGeom>
          <a:noFill/>
          <a:ln/>
        </p:spPr>
        <p:txBody>
          <a:bodyPr wrap="none" lIns="0" tIns="0" rIns="0" bIns="0" rtlCol="0" anchor="t"/>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Descriptions from the diff, feedback before merge</a:t>
            </a:r>
            <a:endParaRPr lang="en-US" sz="1850" dirty="0"/>
          </a:p>
        </p:txBody>
      </p:sp>
      <p:sp>
        <p:nvSpPr>
          <p:cNvPr id="5" name="Text 2"/>
          <p:cNvSpPr/>
          <p:nvPr/>
        </p:nvSpPr>
        <p:spPr>
          <a:xfrm>
            <a:off x="661475" y="3586163"/>
            <a:ext cx="6296860" cy="1521321"/>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drafts the PR description from the </a:t>
            </a:r>
            <a:r>
              <a:rPr lang="en-US" sz="1450" b="1" dirty="0">
                <a:solidFill>
                  <a:srgbClr val="1B365D"/>
                </a:solidFill>
                <a:latin typeface="Poppins" pitchFamily="34" charset="0"/>
                <a:ea typeface="Poppins" pitchFamily="34" charset="-122"/>
                <a:cs typeface="Poppins" pitchFamily="34" charset="-120"/>
              </a:rPr>
              <a:t>diff and commit history</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It summarizes what changed, why, and the impact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In review it flags potential issues and suggests improvements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It explains complex logic and recommends best practices before merge</a:t>
            </a:r>
            <a:endParaRPr lang="en-US" sz="1450" dirty="0"/>
          </a:p>
        </p:txBody>
      </p:sp>
    </p:spTree>
    <p:extLst>
      <p:ext uri="{BB962C8B-B14F-4D97-AF65-F5344CB8AC3E}">
        <p14:creationId xmlns:p14="http://schemas.microsoft.com/office/powerpoint/2010/main" val="10713025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07</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Working in the Terminal</a:t>
            </a:r>
          </a:p>
          <a:p>
            <a:pPr>
              <a:lnSpc>
                <a:spcPct val="95000"/>
              </a:lnSpc>
              <a:spcBef>
                <a:spcPts val="1400"/>
              </a:spcBef>
            </a:pPr>
            <a:r>
              <a:rPr sz="2000" b="0">
                <a:solidFill>
                  <a:srgbClr val="595F67"/>
                </a:solidFill>
                <a:latin typeface="Poppins"/>
              </a:rPr>
              <a:t>Agent-aware output and compression</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The VSCODE_AGENT variable</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Tools that know an agent is calling</a:t>
            </a:r>
            <a:endParaRPr lang="en-US" sz="1850" dirty="0"/>
          </a:p>
        </p:txBody>
      </p:sp>
      <p:sp>
        <p:nvSpPr>
          <p:cNvPr id="4" name="Text 2"/>
          <p:cNvSpPr/>
          <p:nvPr/>
        </p:nvSpPr>
        <p:spPr>
          <a:xfrm>
            <a:off x="661475" y="2226667"/>
            <a:ext cx="4070744" cy="23278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sets </a:t>
            </a:r>
            <a:r>
              <a:rPr lang="en-US" sz="1450" dirty="0">
                <a:solidFill>
                  <a:srgbClr val="1B365D"/>
                </a:solidFill>
                <a:highlight>
                  <a:srgbClr val="F2F2F2"/>
                </a:highlight>
                <a:latin typeface="Consolas" pitchFamily="34" charset="0"/>
                <a:ea typeface="Consolas" pitchFamily="34" charset="-122"/>
                <a:cs typeface="Consolas" pitchFamily="34" charset="-120"/>
              </a:rPr>
              <a:t>VSCODE_AGENT</a:t>
            </a:r>
            <a:r>
              <a:rPr lang="en-US" sz="1450" dirty="0">
                <a:solidFill>
                  <a:srgbClr val="1B365D"/>
                </a:solidFill>
                <a:latin typeface="Poppins" pitchFamily="34" charset="0"/>
                <a:ea typeface="Poppins" pitchFamily="34" charset="-122"/>
                <a:cs typeface="Poppins" pitchFamily="34" charset="-120"/>
              </a:rPr>
              <a:t> in the environment of every command it runs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 CLI that checks it can emit JSON or plain, parseable lines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Spinners, ANSI colours and prompts are noise that can mislead the model</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Run </a:t>
            </a:r>
            <a:r>
              <a:rPr lang="en-US" sz="1450" dirty="0">
                <a:solidFill>
                  <a:srgbClr val="1B365D"/>
                </a:solidFill>
                <a:highlight>
                  <a:srgbClr val="F2F2F2"/>
                </a:highlight>
                <a:latin typeface="Consolas" pitchFamily="34" charset="0"/>
                <a:ea typeface="Consolas" pitchFamily="34" charset="-122"/>
                <a:cs typeface="Consolas" pitchFamily="34" charset="-120"/>
              </a:rPr>
              <a:t>echo $VSCODE_AGENT</a:t>
            </a:r>
            <a:r>
              <a:rPr lang="en-US" sz="1450" dirty="0">
                <a:solidFill>
                  <a:srgbClr val="1B365D"/>
                </a:solidFill>
                <a:latin typeface="Poppins" pitchFamily="34" charset="0"/>
                <a:ea typeface="Poppins" pitchFamily="34" charset="-122"/>
                <a:cs typeface="Poppins" pitchFamily="34" charset="-120"/>
              </a:rPr>
              <a:t> yourself: empty, because you are not an agent</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5103725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Terminal output compression</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Keep the signal, drop the padding</a:t>
            </a:r>
            <a:endParaRPr lang="en-US" sz="1850" dirty="0"/>
          </a:p>
        </p:txBody>
      </p:sp>
      <p:sp>
        <p:nvSpPr>
          <p:cNvPr id="4" name="Text 2"/>
          <p:cNvSpPr/>
          <p:nvPr/>
        </p:nvSpPr>
        <p:spPr>
          <a:xfrm>
            <a:off x="661475" y="2226667"/>
            <a:ext cx="4070744"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Condenses verbose output </a:t>
            </a:r>
            <a:r>
              <a:rPr lang="en-US" sz="1450" b="1" dirty="0">
                <a:solidFill>
                  <a:srgbClr val="1B365D"/>
                </a:solidFill>
                <a:latin typeface="Poppins" pitchFamily="34" charset="0"/>
                <a:ea typeface="Poppins" pitchFamily="34" charset="-122"/>
                <a:cs typeface="Poppins" pitchFamily="34" charset="-120"/>
              </a:rPr>
              <a:t>before</a:t>
            </a:r>
            <a:r>
              <a:rPr lang="en-US" sz="1450" dirty="0">
                <a:solidFill>
                  <a:srgbClr val="1B365D"/>
                </a:solidFill>
                <a:latin typeface="Poppins" pitchFamily="34" charset="0"/>
                <a:ea typeface="Poppins" pitchFamily="34" charset="-122"/>
                <a:cs typeface="Poppins" pitchFamily="34" charset="-120"/>
              </a:rPr>
              <a:t> it enters the context window</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Keeps failures, warnings and summary lines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Drops progress bars, repeated success lines and download chatter</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No flags or redirects needed: the model sees a tight summary</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6362061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009577"/>
            <a:ext cx="6296860"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Takeaways</a:t>
            </a:r>
            <a:endParaRPr lang="en-US" sz="3700" dirty="0"/>
          </a:p>
        </p:txBody>
      </p:sp>
      <p:sp>
        <p:nvSpPr>
          <p:cNvPr id="4" name="Text 1"/>
          <p:cNvSpPr/>
          <p:nvPr/>
        </p:nvSpPr>
        <p:spPr>
          <a:xfrm>
            <a:off x="661475" y="2675830"/>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What to take into the next module</a:t>
            </a:r>
            <a:endParaRPr lang="en-US" sz="1850" dirty="0"/>
          </a:p>
        </p:txBody>
      </p:sp>
      <p:sp>
        <p:nvSpPr>
          <p:cNvPr id="5" name="Text 2"/>
          <p:cNvSpPr/>
          <p:nvPr/>
        </p:nvSpPr>
        <p:spPr>
          <a:xfrm>
            <a:off x="661475" y="3254573"/>
            <a:ext cx="6296860" cy="1593751"/>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Pick the model by context size, reasoning effort and cost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 the prefix stable and the context focused</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Ground requests with slash commands and context variables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Hand multi-step work to a local agent in Agent Mode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 secrets out with </a:t>
            </a: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file patterns and custom instructions</a:t>
            </a:r>
            <a:endParaRPr lang="en-US" sz="1450" dirty="0"/>
          </a:p>
        </p:txBody>
      </p:sp>
    </p:spTree>
    <p:extLst>
      <p:ext uri="{BB962C8B-B14F-4D97-AF65-F5344CB8AC3E}">
        <p14:creationId xmlns:p14="http://schemas.microsoft.com/office/powerpoint/2010/main" val="3521743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1629</Words>
  <Application>Microsoft Office PowerPoint</Application>
  <PresentationFormat>Widescreen</PresentationFormat>
  <Paragraphs>200</Paragraphs>
  <Slides>25</Slides>
  <Notes>24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25</vt:i4>
      </vt:variant>
    </vt:vector>
  </HeadingPairs>
  <TitlesOfParts>
    <vt:vector size="38" baseType="lpstr">
      <vt:lpstr>Calibri</vt:lpstr>
      <vt:lpstr>Source Serif 4</vt:lpstr>
      <vt:lpstr>IBM Plex Sans</vt:lpstr>
      <vt:lpstr>Public Sans Bold</vt:lpstr>
      <vt:lpstr>Montserrat</vt:lpstr>
      <vt:lpstr>IBM Plex Sans Light</vt:lpstr>
      <vt:lpstr>Poppins</vt:lpstr>
      <vt:lpstr>Public Sans Light</vt:lpstr>
      <vt:lpstr>Arial</vt:lpstr>
      <vt:lpstr>Wingdings</vt:lpstr>
      <vt:lpstr>Aptos</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4</cp:revision>
  <dcterms:created xsi:type="dcterms:W3CDTF">2026-09-22T20:00:12Z</dcterms:created>
  <dcterms:modified xsi:type="dcterms:W3CDTF">2026-09-22T20:07:37Z</dcterms:modified>
</cp:coreProperties>
</file>